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core idea: AbroadIQ brings fragmented study-abroad guidance, preparation, and application support into one mobile-first product.</a:t>
            </a:r>
          </a:p>
          <a:p>
            <a:r>
              <a:t>[Sources]</a:t>
            </a:r>
          </a:p>
          <a:p>
            <a:r>
              <a:t>- E:/FYP/Abroadiq Project Proposal.docx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problem around decision quality, preparation quality, and timing—not only access to information.</a:t>
            </a:r>
          </a:p>
          <a:p>
            <a:r>
              <a:t>[Sources]</a:t>
            </a:r>
          </a:p>
          <a:p>
            <a:r>
              <a:t>- E:/FYP/Abroadiq Project Proposal.docx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that AbroadIQ is an integrated decision-and-preparation platform. It supports the student journey; it does not replace official university or immigration decisions.</a:t>
            </a:r>
          </a:p>
          <a:p>
            <a:r>
              <a:t>[Sources]</a:t>
            </a:r>
          </a:p>
          <a:p>
            <a:r>
              <a:t>- E:/FYP/Abroadiq Project Proposal.docx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product map. In the live demo, select only the strongest connected journey rather than opening every screen.</a:t>
            </a:r>
          </a:p>
          <a:p>
            <a:r>
              <a:t>[Sources]</a:t>
            </a:r>
          </a:p>
          <a:p>
            <a:r>
              <a:t>- E:/FYP/Abroadiq Project Proposal.docx</a:t>
            </a:r>
          </a:p>
          <a:p>
            <a:r>
              <a:t>- E:/Mad/app/src/main/java/com/example/madfinalproject</a:t>
            </a:r>
          </a:p>
          <a:p>
            <a:r>
              <a:t>- E:/Mad/app/src/main/res/layout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Competitors tend to be strongest in one or two stages. AbroadIQ's intended differentiation is workflow integration for South Asian applicants, not an unsupported claim of being universally better.</a:t>
            </a:r>
          </a:p>
          <a:p>
            <a:r>
              <a:t>[Sources]</a:t>
            </a:r>
          </a:p>
          <a:p>
            <a:r>
              <a:t>- E:/FYP/Abroadiq Project Proposal.docx</a:t>
            </a:r>
          </a:p>
          <a:p>
            <a:r>
              <a:t>- https://yocket.com/</a:t>
            </a:r>
          </a:p>
          <a:p>
            <a:r>
              <a:t>- https://www.applyboard.com/</a:t>
            </a:r>
          </a:p>
          <a:p>
            <a:r>
              <a:t>- https://www.idp.com/</a:t>
            </a:r>
          </a:p>
          <a:p>
            <a:r>
              <a:t>- https://ielts.magoosh.com/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matrix as feature emphasis, not a certification of exhaustive coverage. Use official pages if challenged on competitor scope.</a:t>
            </a:r>
          </a:p>
          <a:p>
            <a:r>
              <a:t>[Sources]</a:t>
            </a:r>
          </a:p>
          <a:p>
            <a:r>
              <a:t>- https://yocket.com/</a:t>
            </a:r>
          </a:p>
          <a:p>
            <a:r>
              <a:t>- https://www.applyboard.com/</a:t>
            </a:r>
          </a:p>
          <a:p>
            <a:r>
              <a:t>- https://www.idp.com/</a:t>
            </a:r>
          </a:p>
          <a:p>
            <a:r>
              <a:t>- https://ielts.magoosh.com/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Distinguish human actors from external system actors. The student is the primary business actor.</a:t>
            </a:r>
          </a:p>
          <a:p>
            <a:r>
              <a:t>[Sources]</a:t>
            </a:r>
          </a:p>
          <a:p>
            <a:r>
              <a:t>- E:/FYP/Abroadiq Project Proposal.docx</a:t>
            </a:r>
          </a:p>
          <a:p>
            <a:r>
              <a:t>- E:/Mad/app/src/main/AndroidManifest.xml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epics normalize the proposal and current implementation into a Jira-ready product backlog. Confirm final naming against the team's actual Jira board before presenting.</a:t>
            </a:r>
          </a:p>
          <a:p>
            <a:r>
              <a:t>[Sources]</a:t>
            </a:r>
          </a:p>
          <a:p>
            <a:r>
              <a:t>- E:/FYP/Abroadiq Project Proposal.docx</a:t>
            </a:r>
          </a:p>
          <a:p>
            <a:r>
              <a:t>- E:/Mad/app/src/main/java/com/example/madfinalproject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Jira, each story should include acceptance criteria, priority, estimate, assignee, and sprint.</a:t>
            </a:r>
          </a:p>
          <a:p>
            <a:r>
              <a:t>[Sources]</a:t>
            </a:r>
          </a:p>
          <a:p>
            <a:r>
              <a:t>- E:/FYP/Abroadiq Project Proposal.docx</a:t>
            </a:r>
          </a:p>
          <a:p>
            <a:r>
              <a:t>- E:/Mad/app/src/main/java/com/example/madfinalproject/recommendations</a:t>
            </a:r>
          </a:p>
          <a:p>
            <a:r>
              <a:t>- E:/Mad/app/src/main/java/com/example/madfinalproject/scholarships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 one acceptance test per story for the demonstration: input, expected behavior, and visible result.</a:t>
            </a:r>
          </a:p>
          <a:p>
            <a:r>
              <a:t>[Sources]</a:t>
            </a:r>
          </a:p>
          <a:p>
            <a:r>
              <a:t>- E:/FYP/Abroadiq Project Proposal.docx</a:t>
            </a:r>
          </a:p>
          <a:p>
            <a:r>
              <a:t>- E:/Mad/app/src/main/java/com/example/madfinalproject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sprint grouping is reconstructed from the proposal and current codebase. Replace sprint labels, dates, velocity, and completion status with the exact Jira data used by the team.</a:t>
            </a:r>
          </a:p>
          <a:p>
            <a:r>
              <a:t>[Sources]</a:t>
            </a:r>
          </a:p>
          <a:p>
            <a:r>
              <a:t>- E:/FYP/Abroadiq Project Proposal.docx</a:t>
            </a:r>
          </a:p>
          <a:p>
            <a:r>
              <a:t>- E:/Mad/app/src/main/java/com/example/madfinalproject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present this reconstruction as a Jira export. Align the slide with the actual sprint board and show completed vs pending items live.</a:t>
            </a:r>
          </a:p>
          <a:p>
            <a:r>
              <a:t>[Sources]</a:t>
            </a:r>
          </a:p>
          <a:p>
            <a:r>
              <a:t>- E:/FYP/Abroadiq Project Proposal.docx</a:t>
            </a:r>
          </a:p>
          <a:p>
            <a:r>
              <a:t>- E:/Mad/app/src/main/java/com/example/madfinalproject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proposal confirms team membership but not ownership. Do not invent assignments. Before defense, ensure the Jira board shows real assignees, story links, estimates, and transitions for every member.</a:t>
            </a:r>
          </a:p>
          <a:p>
            <a:r>
              <a:t>[Sources]</a:t>
            </a:r>
          </a:p>
          <a:p>
            <a:r>
              <a:t>- E:/FYP/Abroadiq Project Proposal.docx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Important readiness check: the local repository currently exposes only one committed author in its visible history. Before the presentation, every member must push genuine work using their own Git identity. Do not fabricate commits or claim four contributors until GitHub confirms them.</a:t>
            </a:r>
          </a:p>
          <a:p>
            <a:r>
              <a:t>[Sources]</a:t>
            </a:r>
          </a:p>
          <a:p>
            <a:r>
              <a:t>- https://github.com/MZoHaiB142/MadFinalProject</a:t>
            </a:r>
          </a:p>
          <a:p>
            <a:r>
              <a:t>- E:/Mad/.git</a:t>
            </a:r>
          </a:p>
          <a:p>
            <a:r>
              <a:t>- Local audit performed with git log and git shortlog on 2026-07-28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this as a cloud-backed Android product. Never expose API keys during the demonstration; keep them in secure configuration and restrict them.</a:t>
            </a:r>
          </a:p>
          <a:p>
            <a:r>
              <a:t>[Sources]</a:t>
            </a:r>
          </a:p>
          <a:p>
            <a:r>
              <a:t>- E:/FYP/Abroadiq Project Proposal.docx</a:t>
            </a:r>
          </a:p>
          <a:p>
            <a:r>
              <a:t>- E:/Mad/app/build.gradle.kts</a:t>
            </a:r>
          </a:p>
          <a:p>
            <a:r>
              <a:t>- E:/Mad/app/src/main/AndroidManifest.xml</a:t>
            </a:r>
          </a:p>
          <a:p>
            <a:r>
              <a:t>- E:/Mad/app/src/main/java/com/example/madfinalproject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product is Android Native, so the local fallback is an APK/emulator build—not a localhost website. If the rubric strictly requires a localhost URL, prepare and verify a separate local web/backend surface before defense.</a:t>
            </a:r>
          </a:p>
          <a:p>
            <a:r>
              <a:t>[Sources]</a:t>
            </a:r>
          </a:p>
          <a:p>
            <a:r>
              <a:t>- E:/Mad/app</a:t>
            </a:r>
          </a:p>
          <a:p>
            <a:r>
              <a:t>- E:/Mad/gradlew.bat</a:t>
            </a:r>
          </a:p>
          <a:p>
            <a:r>
              <a:t>- E:/Mad/app/src/main/java/com/example/madfinalproject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restating the value: one connected journey from discovery to preparation and application readiness. Then move directly into the live demonstrations.</a:t>
            </a:r>
          </a:p>
          <a:p>
            <a:r>
              <a:t>[Sources]</a:t>
            </a:r>
          </a:p>
          <a:p>
            <a:r>
              <a:t>- E:/FYP/Abroadiq Project Proposal.docx</a:t>
            </a:r>
          </a:p>
          <a:p>
            <a:r>
              <a:t>- https://github.com/MZoHaiB142/MadFinalProject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3-1">
            <a:extLst>
              <a:ext uri="{FF2B5EF4-FFF2-40B4-BE49-F238E27FC236}">
                <a16:creationId xmlns:a16="http://schemas.microsoft.com/office/drawing/2014/main" id="{C4F1C2B6-7F67-415A-B101-D8A63D074ED8}"/>
              </a:ext>
            </a:extLst>
          </p:cNvPr>
          <p:cNvSpPr>
            <a:spLocks noGrp="1"/>
          </p:cNvSpPr>
          <p:nvPr/>
        </p:nvSpPr>
        <p:spPr>
          <a:xfrm>
            <a:off x="393668" y="1738789"/>
            <a:ext cx="9448800" cy="2491454"/>
          </a:xfrm>
          <a:prstGeom prst="rect">
            <a:avLst/>
          </a:prstGeom>
        </p:spPr>
        <p:txBody>
          <a:bodyPr lIns="0" tIns="0" rIns="0" bIns="0" anchor="b">
            <a:noAutofit/>
          </a:bodyPr>
          <a:lstStyle/>
          <a:p>
            <a:pPr algn="l">
              <a:defRPr sz="6000">
                <a:solidFill>
                  <a:srgbClr val="000000"/>
                </a:solidFill>
                <a:latin typeface="Helvetica Neue"/>
                <a:ea typeface="Helvetica Neue"/>
                <a:cs typeface="Helvetica Neue"/>
              </a:defRPr>
            </a:pPr>
            <a:r>
              <a:t>AbroadIQ
AI-powered global education guidance</a:t>
            </a:r>
          </a:p>
        </p:txBody>
      </p:sp>
      <p:sp>
        <p:nvSpPr>
          <p:cNvPr id="2" name="Subtitle-4-2">
            <a:extLst>
              <a:ext uri="{FF2B5EF4-FFF2-40B4-BE49-F238E27FC236}">
                <a16:creationId xmlns:a16="http://schemas.microsoft.com/office/drawing/2014/main" id="{549EBE42-DFAD-418B-9E5A-5DCE05B5F8C5}"/>
              </a:ext>
            </a:extLst>
          </p:cNvPr>
          <p:cNvSpPr>
            <a:spLocks noGrp="1"/>
          </p:cNvSpPr>
          <p:nvPr/>
        </p:nvSpPr>
        <p:spPr>
          <a:xfrm>
            <a:off x="393668" y="4742212"/>
            <a:ext cx="5702332" cy="1080230"/>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r>
              <a:t>Muhammad Zohaib · Muhammad Huzaifa
Muhammad Sharafat Ali · Shahryar Nadeem
Supervisor: Mam Insha Rafique</a:t>
            </a:r>
          </a:p>
        </p:txBody>
      </p:sp>
      <p:sp>
        <p:nvSpPr>
          <p:cNvPr id="3" name="Subtitle-4-3">
            <a:extLst>
              <a:ext uri="{FF2B5EF4-FFF2-40B4-BE49-F238E27FC236}">
                <a16:creationId xmlns:a16="http://schemas.microsoft.com/office/drawing/2014/main" id="{1EF1FC4A-F0E8-400B-A4C2-3044D77A6E5F}"/>
              </a:ext>
            </a:extLst>
          </p:cNvPr>
          <p:cNvSpPr>
            <a:spLocks noGrp="1"/>
          </p:cNvSpPr>
          <p:nvPr/>
        </p:nvSpPr>
        <p:spPr>
          <a:xfrm>
            <a:off x="393668" y="392240"/>
            <a:ext cx="5702332" cy="649129"/>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r>
              <a:t>SOFTWARE ENGINEERING · UMT</a:t>
            </a:r>
          </a:p>
        </p:txBody>
      </p:sp>
    </p:spTree>
    <p:extLst>
      <p:ext uri="{BB962C8B-B14F-4D97-AF65-F5344CB8AC3E}">
        <p14:creationId xmlns:p14="http://schemas.microsoft.com/office/powerpoint/2010/main" val="6245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Number-Placeholder-1-2">
            <a:extLst>
              <a:ext uri="{FF2B5EF4-FFF2-40B4-BE49-F238E27FC236}">
                <a16:creationId xmlns:a16="http://schemas.microsoft.com/office/drawing/2014/main" id="{20CADB88-0EE0-4607-87F9-79141BE2564F}"/>
              </a:ext>
            </a:extLst>
          </p:cNvPr>
          <p:cNvSpPr>
            <a:spLocks noGrp="1"/>
          </p:cNvSpPr>
          <p:nvPr/>
        </p:nvSpPr>
        <p:spPr>
          <a:xfrm>
            <a:off x="11279219" y="6278594"/>
            <a:ext cx="519113"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02</a:t>
            </a:r>
          </a:p>
        </p:txBody>
      </p:sp>
      <p:sp>
        <p:nvSpPr>
          <p:cNvPr id="2" name="Title-2-3">
            <a:extLst>
              <a:ext uri="{FF2B5EF4-FFF2-40B4-BE49-F238E27FC236}">
                <a16:creationId xmlns:a16="http://schemas.microsoft.com/office/drawing/2014/main" id="{95E5A9E4-AA87-4081-AE1B-B0F2404ABCE4}"/>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The problem: ambition is high, guidance is fragmented</a:t>
            </a:r>
          </a:p>
        </p:txBody>
      </p:sp>
      <p:sp>
        <p:nvSpPr>
          <p:cNvPr id="3" name="Content-Placeholder-9-4">
            <a:extLst>
              <a:ext uri="{FF2B5EF4-FFF2-40B4-BE49-F238E27FC236}">
                <a16:creationId xmlns:a16="http://schemas.microsoft.com/office/drawing/2014/main" id="{EFE53AD8-82BA-4CCF-91FF-F777C8483A1A}"/>
              </a:ext>
            </a:extLst>
          </p:cNvPr>
          <p:cNvSpPr>
            <a:spLocks noGrp="1"/>
          </p:cNvSpPr>
          <p:nvPr/>
        </p:nvSpPr>
        <p:spPr>
          <a:xfrm>
            <a:off x="393668" y="2031968"/>
            <a:ext cx="5537168" cy="1643063"/>
          </a:xfrm>
          <a:prstGeom prst="rect">
            <a:avLst/>
          </a:prstGeom>
        </p:spPr>
        <p:txBody>
          <a:bodyPr lIns="91440" tIns="45720" rIns="91440" bIns="45720"/>
          <a:lstStyle/>
          <a:p>
            <a:pPr algn="l">
              <a:defRPr sz="2400">
                <a:solidFill>
                  <a:srgbClr val="000000"/>
                </a:solidFill>
                <a:latin typeface="Helvetica Neue"/>
                <a:ea typeface="Helvetica Neue"/>
                <a:cs typeface="Helvetica Neue"/>
              </a:defRPr>
            </a:pPr>
            <a:r>
              <a:t>Information overload</a:t>
            </a:r>
          </a:p>
          <a:p>
            <a:pPr algn="l">
              <a:defRPr sz="2400">
                <a:solidFill>
                  <a:srgbClr val="000000"/>
                </a:solidFill>
                <a:latin typeface="Helvetica Neue"/>
                <a:ea typeface="Helvetica Neue"/>
                <a:cs typeface="Helvetica Neue"/>
              </a:defRPr>
            </a:pPr>
            <a:r>
              <a:t>University, visa, cost, scholarship, and eligibility data is scattered across portals and agencies.</a:t>
            </a:r>
          </a:p>
        </p:txBody>
      </p:sp>
      <p:sp>
        <p:nvSpPr>
          <p:cNvPr id="4" name="Content-Placeholder-10-5">
            <a:extLst>
              <a:ext uri="{FF2B5EF4-FFF2-40B4-BE49-F238E27FC236}">
                <a16:creationId xmlns:a16="http://schemas.microsoft.com/office/drawing/2014/main" id="{5E3B2434-F6F6-4F3B-B129-55D1A6B8F842}"/>
              </a:ext>
            </a:extLst>
          </p:cNvPr>
          <p:cNvSpPr>
            <a:spLocks noGrp="1"/>
          </p:cNvSpPr>
          <p:nvPr/>
        </p:nvSpPr>
        <p:spPr>
          <a:xfrm>
            <a:off x="6256592" y="2031968"/>
            <a:ext cx="5537168" cy="1643063"/>
          </a:xfrm>
          <a:prstGeom prst="rect">
            <a:avLst/>
          </a:prstGeom>
        </p:spPr>
        <p:txBody>
          <a:bodyPr lIns="91440" tIns="45720" rIns="91440" bIns="45720"/>
          <a:lstStyle/>
          <a:p>
            <a:pPr algn="l">
              <a:defRPr sz="2400">
                <a:solidFill>
                  <a:srgbClr val="000000"/>
                </a:solidFill>
                <a:latin typeface="Helvetica Neue"/>
                <a:ea typeface="Helvetica Neue"/>
                <a:cs typeface="Helvetica Neue"/>
              </a:defRPr>
            </a:pPr>
            <a:r>
              <a:t>Generic preparation</a:t>
            </a:r>
          </a:p>
          <a:p>
            <a:pPr algn="l">
              <a:defRPr sz="2400">
                <a:solidFill>
                  <a:srgbClr val="000000"/>
                </a:solidFill>
                <a:latin typeface="Helvetica Neue"/>
                <a:ea typeface="Helvetica Neue"/>
                <a:cs typeface="Helvetica Neue"/>
              </a:defRPr>
            </a:pPr>
            <a:r>
              <a:t>Static question banks encourage memorization and provide little adaptive feedback.</a:t>
            </a:r>
          </a:p>
        </p:txBody>
      </p:sp>
      <p:sp>
        <p:nvSpPr>
          <p:cNvPr id="5" name="Content-Placeholder-9-6">
            <a:extLst>
              <a:ext uri="{FF2B5EF4-FFF2-40B4-BE49-F238E27FC236}">
                <a16:creationId xmlns:a16="http://schemas.microsoft.com/office/drawing/2014/main" id="{DCDBED52-C4F2-4D60-B4BA-1ABDCB506D5C}"/>
              </a:ext>
            </a:extLst>
          </p:cNvPr>
          <p:cNvSpPr>
            <a:spLocks noGrp="1"/>
          </p:cNvSpPr>
          <p:nvPr/>
        </p:nvSpPr>
        <p:spPr>
          <a:xfrm>
            <a:off x="393668" y="4016978"/>
            <a:ext cx="5537168" cy="1643158"/>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Missed opportunities</a:t>
            </a:r>
          </a:p>
          <a:p>
            <a:pPr algn="l">
              <a:defRPr sz="2400">
                <a:solidFill>
                  <a:srgbClr val="000000"/>
                </a:solidFill>
                <a:latin typeface="Helvetica Neue"/>
                <a:ea typeface="Helvetica Neue"/>
                <a:cs typeface="Helvetica Neue"/>
              </a:defRPr>
            </a:pPr>
            <a:r>
              <a:t>Students discover scholarships late, misunderstand eligibility, or miss critical deadlines.</a:t>
            </a:r>
          </a:p>
        </p:txBody>
      </p:sp>
      <p:sp>
        <p:nvSpPr>
          <p:cNvPr id="6" name="Content-Placeholder-10-7">
            <a:extLst>
              <a:ext uri="{FF2B5EF4-FFF2-40B4-BE49-F238E27FC236}">
                <a16:creationId xmlns:a16="http://schemas.microsoft.com/office/drawing/2014/main" id="{619809A5-A5BC-411C-ACBF-EA7301C2A9F6}"/>
              </a:ext>
            </a:extLst>
          </p:cNvPr>
          <p:cNvSpPr>
            <a:spLocks noGrp="1"/>
          </p:cNvSpPr>
          <p:nvPr/>
        </p:nvSpPr>
        <p:spPr>
          <a:xfrm>
            <a:off x="6256592" y="4016978"/>
            <a:ext cx="5537168" cy="1643158"/>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Low-confidence decisions</a:t>
            </a:r>
          </a:p>
          <a:p>
            <a:pPr algn="l">
              <a:defRPr sz="2400">
                <a:solidFill>
                  <a:srgbClr val="000000"/>
                </a:solidFill>
                <a:latin typeface="Helvetica Neue"/>
                <a:ea typeface="Helvetica Neue"/>
                <a:cs typeface="Helvetica Neue"/>
              </a:defRPr>
            </a:pPr>
            <a:r>
              <a:t>Students lack personalized support for SOPs, interviews, and realistic university choices.</a:t>
            </a:r>
          </a:p>
        </p:txBody>
      </p:sp>
    </p:spTree>
    <p:extLst>
      <p:ext uri="{BB962C8B-B14F-4D97-AF65-F5344CB8AC3E}">
        <p14:creationId xmlns:p14="http://schemas.microsoft.com/office/powerpoint/2010/main" val="1379749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Shape-532-p58-2">
            <a:extLst>
              <a:ext uri="{FF2B5EF4-FFF2-40B4-BE49-F238E27FC236}">
                <a16:creationId xmlns:a16="http://schemas.microsoft.com/office/drawing/2014/main" id="{D64C4809-C632-413D-BF34-F1FF929F598D}"/>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03</a:t>
            </a:r>
          </a:p>
        </p:txBody>
      </p:sp>
      <p:sp>
        <p:nvSpPr>
          <p:cNvPr id="2" name="Google-Shape-533-p58-3">
            <a:extLst>
              <a:ext uri="{FF2B5EF4-FFF2-40B4-BE49-F238E27FC236}">
                <a16:creationId xmlns:a16="http://schemas.microsoft.com/office/drawing/2014/main" id="{4501B1AE-16BD-472D-8EB5-573CD0657686}"/>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r>
              <a:t>Solution and scope</a:t>
            </a:r>
          </a:p>
        </p:txBody>
      </p:sp>
      <p:sp>
        <p:nvSpPr>
          <p:cNvPr id="3" name="Google-Shape-534-p58-4">
            <a:extLst>
              <a:ext uri="{FF2B5EF4-FFF2-40B4-BE49-F238E27FC236}">
                <a16:creationId xmlns:a16="http://schemas.microsoft.com/office/drawing/2014/main" id="{17393D81-8B2A-4365-A2D9-CAB6F2AFC263}"/>
              </a:ext>
            </a:extLst>
          </p:cNvPr>
          <p:cNvSpPr>
            <a:spLocks noGrp="1"/>
          </p:cNvSpPr>
          <p:nvPr/>
        </p:nvSpPr>
        <p:spPr>
          <a:xfrm>
            <a:off x="393668" y="2031968"/>
            <a:ext cx="5537168" cy="3534823"/>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t>One guided journey</a:t>
            </a:r>
          </a:p>
          <a:p>
            <a:pPr algn="l">
              <a:defRPr sz="2400">
                <a:solidFill>
                  <a:srgbClr val="000000"/>
                </a:solidFill>
                <a:latin typeface="Helvetica Neue"/>
                <a:ea typeface="Helvetica Neue"/>
                <a:cs typeface="Helvetica Neue"/>
              </a:defRPr>
            </a:pPr>
            <a:r>
              <a:t>Discover universities and scholarships.
Evaluate profile fit.
Prepare for tests and visa interviews.
Build SOPs and a personalized roadmap.</a:t>
            </a:r>
          </a:p>
        </p:txBody>
      </p:sp>
      <p:sp>
        <p:nvSpPr>
          <p:cNvPr id="4" name="Content-Placeholder-3-5">
            <a:extLst>
              <a:ext uri="{FF2B5EF4-FFF2-40B4-BE49-F238E27FC236}">
                <a16:creationId xmlns:a16="http://schemas.microsoft.com/office/drawing/2014/main" id="{3A03ECA5-503D-4834-927D-27DD8BB04A73}"/>
              </a:ext>
            </a:extLst>
          </p:cNvPr>
          <p:cNvSpPr>
            <a:spLocks noGrp="1"/>
          </p:cNvSpPr>
          <p:nvPr/>
        </p:nvSpPr>
        <p:spPr>
          <a:xfrm>
            <a:off x="6256592" y="2031968"/>
            <a:ext cx="5537168" cy="3534823"/>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Phase-one boundary</a:t>
            </a:r>
          </a:p>
          <a:p>
            <a:pPr algn="l">
              <a:defRPr sz="2400">
                <a:solidFill>
                  <a:srgbClr val="000000"/>
                </a:solidFill>
                <a:latin typeface="Helvetica Neue"/>
                <a:ea typeface="Helvetica Neue"/>
                <a:cs typeface="Helvetica Neue"/>
              </a:defRPr>
            </a:pPr>
            <a:r>
              <a:t>Mobile-first Android experience for South Asian applicants targeting the UK, USA, Canada, and Australia.
Cloud data, AI-assisted guidance, reminders, analytics, and consultant support.</a:t>
            </a:r>
          </a:p>
        </p:txBody>
      </p:sp>
    </p:spTree>
    <p:extLst>
      <p:ext uri="{BB962C8B-B14F-4D97-AF65-F5344CB8AC3E}">
        <p14:creationId xmlns:p14="http://schemas.microsoft.com/office/powerpoint/2010/main" val="43965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Number-Placeholder-3-2">
            <a:extLst>
              <a:ext uri="{FF2B5EF4-FFF2-40B4-BE49-F238E27FC236}">
                <a16:creationId xmlns:a16="http://schemas.microsoft.com/office/drawing/2014/main" id="{21074A20-9C3E-4509-8D84-4CFCB260E04D}"/>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04</a:t>
            </a:r>
          </a:p>
        </p:txBody>
      </p:sp>
      <p:sp>
        <p:nvSpPr>
          <p:cNvPr id="2" name="Title-10-3">
            <a:extLst>
              <a:ext uri="{FF2B5EF4-FFF2-40B4-BE49-F238E27FC236}">
                <a16:creationId xmlns:a16="http://schemas.microsoft.com/office/drawing/2014/main" id="{A0A44459-C973-4CFC-B170-033882C46E55}"/>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Product scope: eight connected capability areas</a:t>
            </a:r>
          </a:p>
        </p:txBody>
      </p:sp>
      <p:sp>
        <p:nvSpPr>
          <p:cNvPr id="3" name="Content-Placeholder-15-4">
            <a:extLst>
              <a:ext uri="{FF2B5EF4-FFF2-40B4-BE49-F238E27FC236}">
                <a16:creationId xmlns:a16="http://schemas.microsoft.com/office/drawing/2014/main" id="{93C44129-ACB0-451D-8865-38C26ED18505}"/>
              </a:ext>
            </a:extLst>
          </p:cNvPr>
          <p:cNvSpPr>
            <a:spLocks noGrp="1"/>
          </p:cNvSpPr>
          <p:nvPr/>
        </p:nvSpPr>
        <p:spPr>
          <a:xfrm>
            <a:off x="393668" y="4161092"/>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Visa interview</a:t>
            </a:r>
          </a:p>
          <a:p>
            <a:pPr algn="l">
              <a:defRPr sz="1600">
                <a:solidFill>
                  <a:srgbClr val="000000"/>
                </a:solidFill>
                <a:latin typeface="Helvetica Neue"/>
                <a:ea typeface="Helvetica Neue"/>
                <a:cs typeface="Helvetica Neue"/>
              </a:defRPr>
            </a:pPr>
            <a:r>
              <a:t>Speech-to-text, dynamic questions, AI evaluation, and coaching.</a:t>
            </a:r>
          </a:p>
        </p:txBody>
      </p:sp>
      <p:sp>
        <p:nvSpPr>
          <p:cNvPr id="4" name="Text-Placeholder-16-5">
            <a:extLst>
              <a:ext uri="{FF2B5EF4-FFF2-40B4-BE49-F238E27FC236}">
                <a16:creationId xmlns:a16="http://schemas.microsoft.com/office/drawing/2014/main" id="{225B3C09-39B3-426D-833F-739A2229882C}"/>
              </a:ext>
            </a:extLst>
          </p:cNvPr>
          <p:cNvSpPr>
            <a:spLocks noGrp="1"/>
          </p:cNvSpPr>
          <p:nvPr/>
        </p:nvSpPr>
        <p:spPr>
          <a:xfrm>
            <a:off x="3334988" y="4161092"/>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SOP engine</a:t>
            </a:r>
          </a:p>
          <a:p>
            <a:pPr algn="l">
              <a:defRPr sz="1800">
                <a:solidFill>
                  <a:srgbClr val="000000"/>
                </a:solidFill>
                <a:latin typeface="Helvetica Neue"/>
                <a:ea typeface="Helvetica Neue"/>
                <a:cs typeface="Helvetica Neue"/>
              </a:defRPr>
            </a:pPr>
            <a:r>
              <a:t>Structured profile input, generated drafts, and improvement guidance.</a:t>
            </a:r>
          </a:p>
        </p:txBody>
      </p:sp>
      <p:sp>
        <p:nvSpPr>
          <p:cNvPr id="5" name="Content-Placeholder-17-6">
            <a:extLst>
              <a:ext uri="{FF2B5EF4-FFF2-40B4-BE49-F238E27FC236}">
                <a16:creationId xmlns:a16="http://schemas.microsoft.com/office/drawing/2014/main" id="{D8DF2EC4-2416-4F80-A338-310934C25B4D}"/>
              </a:ext>
            </a:extLst>
          </p:cNvPr>
          <p:cNvSpPr>
            <a:spLocks noGrp="1"/>
          </p:cNvSpPr>
          <p:nvPr/>
        </p:nvSpPr>
        <p:spPr>
          <a:xfrm>
            <a:off x="6264402" y="4161092"/>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Roadmap</a:t>
            </a:r>
          </a:p>
          <a:p>
            <a:pPr algn="l">
              <a:defRPr sz="1600">
                <a:solidFill>
                  <a:srgbClr val="000000"/>
                </a:solidFill>
                <a:latin typeface="Helvetica Neue"/>
                <a:ea typeface="Helvetica Neue"/>
                <a:cs typeface="Helvetica Neue"/>
              </a:defRPr>
            </a:pPr>
            <a:r>
              <a:t>Country-specific milestones, checklists, and deadline tracking.</a:t>
            </a:r>
          </a:p>
        </p:txBody>
      </p:sp>
      <p:sp>
        <p:nvSpPr>
          <p:cNvPr id="6" name="Text-Placeholder-18-7">
            <a:extLst>
              <a:ext uri="{FF2B5EF4-FFF2-40B4-BE49-F238E27FC236}">
                <a16:creationId xmlns:a16="http://schemas.microsoft.com/office/drawing/2014/main" id="{856ED112-F74B-492C-83AA-1328BED82782}"/>
              </a:ext>
            </a:extLst>
          </p:cNvPr>
          <p:cNvSpPr>
            <a:spLocks noGrp="1"/>
          </p:cNvSpPr>
          <p:nvPr/>
        </p:nvSpPr>
        <p:spPr>
          <a:xfrm>
            <a:off x="9205722" y="4161092"/>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Human support</a:t>
            </a:r>
          </a:p>
          <a:p>
            <a:pPr algn="l">
              <a:defRPr sz="1800">
                <a:solidFill>
                  <a:srgbClr val="000000"/>
                </a:solidFill>
                <a:latin typeface="Helvetica Neue"/>
                <a:ea typeface="Helvetica Neue"/>
                <a:cs typeface="Helvetica Neue"/>
              </a:defRPr>
            </a:pPr>
            <a:r>
              <a:t>Consultant chat/calls, community, chatbot, and reports.</a:t>
            </a:r>
          </a:p>
        </p:txBody>
      </p:sp>
      <p:sp>
        <p:nvSpPr>
          <p:cNvPr id="7" name="Content-Placeholder-15-8">
            <a:extLst>
              <a:ext uri="{FF2B5EF4-FFF2-40B4-BE49-F238E27FC236}">
                <a16:creationId xmlns:a16="http://schemas.microsoft.com/office/drawing/2014/main" id="{CC9172A3-D6AC-4021-815F-5D2089432627}"/>
              </a:ext>
            </a:extLst>
          </p:cNvPr>
          <p:cNvSpPr>
            <a:spLocks noGrp="1"/>
          </p:cNvSpPr>
          <p:nvPr/>
        </p:nvSpPr>
        <p:spPr>
          <a:xfrm>
            <a:off x="393668" y="2208086"/>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University finder</a:t>
            </a:r>
          </a:p>
          <a:p>
            <a:pPr algn="l">
              <a:defRPr sz="1600">
                <a:solidFill>
                  <a:srgbClr val="000000"/>
                </a:solidFill>
                <a:latin typeface="Helvetica Neue"/>
                <a:ea typeface="Helvetica Neue"/>
                <a:cs typeface="Helvetica Neue"/>
              </a:defRPr>
            </a:pPr>
            <a:r>
              <a:t>Search, filters, cards, costs, rankings, and program details.</a:t>
            </a:r>
          </a:p>
        </p:txBody>
      </p:sp>
      <p:sp>
        <p:nvSpPr>
          <p:cNvPr id="8" name="Text-Placeholder-16-9">
            <a:extLst>
              <a:ext uri="{FF2B5EF4-FFF2-40B4-BE49-F238E27FC236}">
                <a16:creationId xmlns:a16="http://schemas.microsoft.com/office/drawing/2014/main" id="{DCD405A8-3C88-4662-86F8-F16BC0950303}"/>
              </a:ext>
            </a:extLst>
          </p:cNvPr>
          <p:cNvSpPr>
            <a:spLocks noGrp="1"/>
          </p:cNvSpPr>
          <p:nvPr/>
        </p:nvSpPr>
        <p:spPr>
          <a:xfrm>
            <a:off x="3334988" y="2208086"/>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AI eligibility</a:t>
            </a:r>
          </a:p>
          <a:p>
            <a:pPr algn="l">
              <a:defRPr sz="1800">
                <a:solidFill>
                  <a:srgbClr val="000000"/>
                </a:solidFill>
                <a:latin typeface="Helvetica Neue"/>
                <a:ea typeface="Helvetica Neue"/>
                <a:cs typeface="Helvetica Neue"/>
              </a:defRPr>
            </a:pPr>
            <a:r>
              <a:t>Profile-based Safe, Target, and Ambitious recommendations.</a:t>
            </a:r>
          </a:p>
        </p:txBody>
      </p:sp>
      <p:sp>
        <p:nvSpPr>
          <p:cNvPr id="9" name="Content-Placeholder-17-10">
            <a:extLst>
              <a:ext uri="{FF2B5EF4-FFF2-40B4-BE49-F238E27FC236}">
                <a16:creationId xmlns:a16="http://schemas.microsoft.com/office/drawing/2014/main" id="{C1AFE7C4-4A7C-494D-BA7E-A1D07AE5C480}"/>
              </a:ext>
            </a:extLst>
          </p:cNvPr>
          <p:cNvSpPr>
            <a:spLocks noGrp="1"/>
          </p:cNvSpPr>
          <p:nvPr/>
        </p:nvSpPr>
        <p:spPr>
          <a:xfrm>
            <a:off x="6264402" y="2208086"/>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Scholarship radar</a:t>
            </a:r>
          </a:p>
          <a:p>
            <a:pPr algn="l">
              <a:defRPr sz="1600">
                <a:solidFill>
                  <a:srgbClr val="000000"/>
                </a:solidFill>
                <a:latin typeface="Helvetica Neue"/>
                <a:ea typeface="Helvetica Neue"/>
                <a:cs typeface="Helvetica Neue"/>
              </a:defRPr>
            </a:pPr>
            <a:r>
              <a:t>Profile matching, favourites, opening dates, and reminders.</a:t>
            </a:r>
          </a:p>
        </p:txBody>
      </p:sp>
      <p:sp>
        <p:nvSpPr>
          <p:cNvPr id="10" name="Text-Placeholder-18-11">
            <a:extLst>
              <a:ext uri="{FF2B5EF4-FFF2-40B4-BE49-F238E27FC236}">
                <a16:creationId xmlns:a16="http://schemas.microsoft.com/office/drawing/2014/main" id="{E8E623BA-0762-4766-B4EA-6934304B6CCF}"/>
              </a:ext>
            </a:extLst>
          </p:cNvPr>
          <p:cNvSpPr>
            <a:spLocks noGrp="1"/>
          </p:cNvSpPr>
          <p:nvPr/>
        </p:nvSpPr>
        <p:spPr>
          <a:xfrm>
            <a:off x="9205722" y="2208086"/>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Test preparation</a:t>
            </a:r>
          </a:p>
          <a:p>
            <a:pPr algn="l">
              <a:defRPr sz="1800">
                <a:solidFill>
                  <a:srgbClr val="000000"/>
                </a:solidFill>
                <a:latin typeface="Helvetica Neue"/>
                <a:ea typeface="Helvetica Neue"/>
                <a:cs typeface="Helvetica Neue"/>
              </a:defRPr>
            </a:pPr>
            <a:r>
              <a:t>IELTS, PTE, SAT, English Foundation, progress, and mock tests.</a:t>
            </a:r>
          </a:p>
        </p:txBody>
      </p:sp>
    </p:spTree>
    <p:extLst>
      <p:ext uri="{BB962C8B-B14F-4D97-AF65-F5344CB8AC3E}">
        <p14:creationId xmlns:p14="http://schemas.microsoft.com/office/powerpoint/2010/main" val="634954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Shape-532-p58-2">
            <a:extLst>
              <a:ext uri="{FF2B5EF4-FFF2-40B4-BE49-F238E27FC236}">
                <a16:creationId xmlns:a16="http://schemas.microsoft.com/office/drawing/2014/main" id="{33E8392B-0F95-4CB6-B595-47609A79955F}"/>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05</a:t>
            </a:r>
          </a:p>
        </p:txBody>
      </p:sp>
      <p:sp>
        <p:nvSpPr>
          <p:cNvPr id="2" name="Google-Shape-533-p58-3">
            <a:extLst>
              <a:ext uri="{FF2B5EF4-FFF2-40B4-BE49-F238E27FC236}">
                <a16:creationId xmlns:a16="http://schemas.microsoft.com/office/drawing/2014/main" id="{55C923B1-766F-4EC9-9D1E-59FCF0386177}"/>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r>
              <a:t>Domain and market position</a:t>
            </a:r>
          </a:p>
        </p:txBody>
      </p:sp>
      <p:sp>
        <p:nvSpPr>
          <p:cNvPr id="3" name="Google-Shape-534-p58-4">
            <a:extLst>
              <a:ext uri="{FF2B5EF4-FFF2-40B4-BE49-F238E27FC236}">
                <a16:creationId xmlns:a16="http://schemas.microsoft.com/office/drawing/2014/main" id="{F858ED81-4FF3-4A00-A201-A649020F5771}"/>
              </a:ext>
            </a:extLst>
          </p:cNvPr>
          <p:cNvSpPr>
            <a:spLocks noGrp="1"/>
          </p:cNvSpPr>
          <p:nvPr/>
        </p:nvSpPr>
        <p:spPr>
          <a:xfrm>
            <a:off x="393668" y="3365468"/>
            <a:ext cx="3568732" cy="2628900"/>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t>Domain</a:t>
            </a:r>
          </a:p>
          <a:p>
            <a:pPr algn="l">
              <a:defRPr sz="2400">
                <a:solidFill>
                  <a:srgbClr val="000000"/>
                </a:solidFill>
                <a:latin typeface="Helvetica Neue"/>
                <a:ea typeface="Helvetica Neue"/>
                <a:cs typeface="Helvetica Neue"/>
              </a:defRPr>
            </a:pPr>
            <a:r>
              <a:t>EdTech + study-abroad guidance
Decision support, preparation, workflow, and student success.</a:t>
            </a:r>
          </a:p>
        </p:txBody>
      </p:sp>
      <p:sp>
        <p:nvSpPr>
          <p:cNvPr id="4" name="Content-Placeholder-1-5">
            <a:extLst>
              <a:ext uri="{FF2B5EF4-FFF2-40B4-BE49-F238E27FC236}">
                <a16:creationId xmlns:a16="http://schemas.microsoft.com/office/drawing/2014/main" id="{1B0FAC78-E31D-4077-9D8B-7343F999293F}"/>
              </a:ext>
            </a:extLst>
          </p:cNvPr>
          <p:cNvSpPr>
            <a:spLocks noGrp="1"/>
          </p:cNvSpPr>
          <p:nvPr/>
        </p:nvSpPr>
        <p:spPr>
          <a:xfrm>
            <a:off x="8229600" y="3365468"/>
            <a:ext cx="3568732" cy="2628900"/>
          </a:xfrm>
          <a:prstGeom prst="rect">
            <a:avLst/>
          </a:prstGeom>
        </p:spPr>
        <p:txBody>
          <a:bodyPr lIns="91440" tIns="45720" rIns="91440" bIns="45720">
            <a:normAutofit/>
          </a:bodyPr>
          <a:lstStyle/>
          <a:p>
            <a:pPr algn="l">
              <a:defRPr sz="2400">
                <a:solidFill>
                  <a:srgbClr val="000000"/>
                </a:solidFill>
                <a:latin typeface="Helvetica Neue"/>
                <a:ea typeface="Helvetica Neue"/>
                <a:cs typeface="Helvetica Neue"/>
              </a:defRPr>
            </a:pPr>
            <a:r>
              <a:t>Positioning</a:t>
            </a:r>
          </a:p>
          <a:p>
            <a:pPr algn="l">
              <a:defRPr sz="2400">
                <a:solidFill>
                  <a:srgbClr val="000000"/>
                </a:solidFill>
                <a:latin typeface="Helvetica Neue"/>
                <a:ea typeface="Helvetica Neue"/>
                <a:cs typeface="Helvetica Neue"/>
              </a:defRPr>
            </a:pPr>
            <a:r>
              <a:t>AbroadIQ connects discovery, preparation, visa practice, SOP support, scholarships, and progress in one student journey.</a:t>
            </a:r>
          </a:p>
        </p:txBody>
      </p:sp>
      <p:sp>
        <p:nvSpPr>
          <p:cNvPr id="5" name="Content-Placeholder-2-6">
            <a:extLst>
              <a:ext uri="{FF2B5EF4-FFF2-40B4-BE49-F238E27FC236}">
                <a16:creationId xmlns:a16="http://schemas.microsoft.com/office/drawing/2014/main" id="{3A2823C2-91E4-4C6E-90BA-BD29F469D5FA}"/>
              </a:ext>
            </a:extLst>
          </p:cNvPr>
          <p:cNvSpPr>
            <a:spLocks noGrp="1"/>
          </p:cNvSpPr>
          <p:nvPr/>
        </p:nvSpPr>
        <p:spPr>
          <a:xfrm>
            <a:off x="4311682" y="3365468"/>
            <a:ext cx="3568732" cy="2628900"/>
          </a:xfrm>
          <a:prstGeom prst="rect">
            <a:avLst/>
          </a:prstGeom>
        </p:spPr>
        <p:txBody>
          <a:bodyPr lIns="91440" tIns="45720" rIns="91440" bIns="45720">
            <a:normAutofit fontScale="91248"/>
          </a:bodyPr>
          <a:lstStyle/>
          <a:p>
            <a:pPr algn="l">
              <a:defRPr sz="2400">
                <a:solidFill>
                  <a:srgbClr val="000000"/>
                </a:solidFill>
                <a:latin typeface="Helvetica Neue"/>
                <a:ea typeface="Helvetica Neue"/>
                <a:cs typeface="Helvetica Neue"/>
              </a:defRPr>
            </a:pPr>
            <a:r>
              <a:t>Primary users</a:t>
            </a:r>
          </a:p>
          <a:p>
            <a:pPr algn="l">
              <a:defRPr sz="2400">
                <a:solidFill>
                  <a:srgbClr val="000000"/>
                </a:solidFill>
                <a:latin typeface="Helvetica Neue"/>
                <a:ea typeface="Helvetica Neue"/>
                <a:cs typeface="Helvetica Neue"/>
              </a:defRPr>
            </a:pPr>
            <a:r>
              <a:t>Budget-conscious undergraduate and graduate applicants in South Asia.
Mobile-first; targeting major English-speaking destinations.</a:t>
            </a:r>
          </a:p>
        </p:txBody>
      </p:sp>
    </p:spTree>
    <p:extLst>
      <p:ext uri="{BB962C8B-B14F-4D97-AF65-F5344CB8AC3E}">
        <p14:creationId xmlns:p14="http://schemas.microsoft.com/office/powerpoint/2010/main" val="458757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Shape-532-p58-2">
            <a:extLst>
              <a:ext uri="{FF2B5EF4-FFF2-40B4-BE49-F238E27FC236}">
                <a16:creationId xmlns:a16="http://schemas.microsoft.com/office/drawing/2014/main" id="{DDD44396-7679-4B85-819A-B6487E7BB8D3}"/>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06</a:t>
            </a:r>
          </a:p>
        </p:txBody>
      </p:sp>
      <p:sp>
        <p:nvSpPr>
          <p:cNvPr id="2" name="Google-Shape-533-p58-3">
            <a:extLst>
              <a:ext uri="{FF2B5EF4-FFF2-40B4-BE49-F238E27FC236}">
                <a16:creationId xmlns:a16="http://schemas.microsoft.com/office/drawing/2014/main" id="{79B1A68C-209C-49C8-B37F-DB70F3040F3D}"/>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r>
              <a:t>Competitive landscape</a:t>
            </a:r>
          </a:p>
        </p:txBody>
      </p:sp>
      <p:sp>
        <p:nvSpPr>
          <p:cNvPr id="3" name="Content-Placeholder-15-4">
            <a:extLst>
              <a:ext uri="{FF2B5EF4-FFF2-40B4-BE49-F238E27FC236}">
                <a16:creationId xmlns:a16="http://schemas.microsoft.com/office/drawing/2014/main" id="{DFB778EE-0EAB-4396-BDB7-6AAD68B472AB}"/>
              </a:ext>
            </a:extLst>
          </p:cNvPr>
          <p:cNvSpPr>
            <a:spLocks noGrp="1"/>
          </p:cNvSpPr>
          <p:nvPr/>
        </p:nvSpPr>
        <p:spPr>
          <a:xfrm>
            <a:off x="400907" y="1057466"/>
            <a:ext cx="11404568" cy="1012222"/>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Feature emphasis across representative platforms</a:t>
            </a:r>
          </a:p>
          <a:p>
            <a:pPr algn="l">
              <a:defRPr sz="1600">
                <a:solidFill>
                  <a:srgbClr val="000000"/>
                </a:solidFill>
                <a:latin typeface="Helvetica Neue"/>
                <a:ea typeface="Helvetica Neue"/>
                <a:cs typeface="Helvetica Neue"/>
              </a:defRPr>
            </a:pPr>
            <a:r>
              <a:t>AbroadIQ’s proposed advantage is an integrated mobile workflow; competitor capabilities are summarized from official product pages.</a:t>
            </a:r>
          </a:p>
        </p:txBody>
      </p:sp>
      <p:graphicFrame>
        <p:nvGraphicFramePr>
          <p:cNvPr id="8" name="Google-Shape-644-p93-5"/>
          <p:cNvGraphicFramePr/>
          <p:nvPr/>
        </p:nvGraphicFramePr>
        <p:xfrm>
          <a:off x="393668" y="2251043"/>
          <a:ext cx="11404568" cy="3932587"/>
        </p:xfrm>
        <a:graphic>
          <a:graphicData uri="http://schemas.openxmlformats.org/drawingml/2006/table">
            <a:tbl>
              <a:tblPr/>
              <a:tblGrid>
                <a:gridCol w="3906107">
                  <a:extLst>
                    <a:ext uri="{9D8B030D-6E8A-4147-A177-3AD203B41FA5}">
                      <a16:colId xmlns:a16="http://schemas.microsoft.com/office/drawing/2014/main" val="20000"/>
                    </a:ext>
                  </a:extLst>
                </a:gridCol>
                <a:gridCol w="1874615">
                  <a:extLst>
                    <a:ext uri="{9D8B030D-6E8A-4147-A177-3AD203B41FA5}">
                      <a16:colId xmlns:a16="http://schemas.microsoft.com/office/drawing/2014/main" val="20001"/>
                    </a:ext>
                  </a:extLst>
                </a:gridCol>
                <a:gridCol w="1874615">
                  <a:extLst>
                    <a:ext uri="{9D8B030D-6E8A-4147-A177-3AD203B41FA5}">
                      <a16:colId xmlns:a16="http://schemas.microsoft.com/office/drawing/2014/main" val="20002"/>
                    </a:ext>
                  </a:extLst>
                </a:gridCol>
                <a:gridCol w="1874615">
                  <a:extLst>
                    <a:ext uri="{9D8B030D-6E8A-4147-A177-3AD203B41FA5}">
                      <a16:colId xmlns:a16="http://schemas.microsoft.com/office/drawing/2014/main" val="20003"/>
                    </a:ext>
                  </a:extLst>
                </a:gridCol>
                <a:gridCol w="1874615">
                  <a:extLst>
                    <a:ext uri="{9D8B030D-6E8A-4147-A177-3AD203B41FA5}">
                      <a16:colId xmlns:a16="http://schemas.microsoft.com/office/drawing/2014/main" val="20004"/>
                    </a:ext>
                  </a:extLst>
                </a:gridCol>
              </a:tblGrid>
              <a:tr h="655431">
                <a:tc>
                  <a:txBody>
                    <a:bodyPr/>
                    <a:lstStyle/>
                    <a:p>
                      <a:r>
                        <a:t>Platform</a:t>
                      </a:r>
                    </a:p>
                  </a:txBody>
                  <a:tcPr/>
                </a:tc>
                <a:tc>
                  <a:txBody>
                    <a:bodyPr/>
                    <a:lstStyle/>
                    <a:p>
                      <a:r>
                        <a:t>Discovery</a:t>
                      </a:r>
                    </a:p>
                  </a:txBody>
                  <a:tcPr/>
                </a:tc>
                <a:tc>
                  <a:txBody>
                    <a:bodyPr/>
                    <a:lstStyle/>
                    <a:p>
                      <a:r>
                        <a:t>Applications</a:t>
                      </a:r>
                    </a:p>
                  </a:txBody>
                  <a:tcPr/>
                </a:tc>
                <a:tc>
                  <a:txBody>
                    <a:bodyPr/>
                    <a:lstStyle/>
                    <a:p>
                      <a:r>
                        <a:t>Test Prep</a:t>
                      </a:r>
                    </a:p>
                  </a:txBody>
                  <a:tcPr/>
                </a:tc>
                <a:tc>
                  <a:txBody>
                    <a:bodyPr/>
                    <a:lstStyle/>
                    <a:p>
                      <a:r>
                        <a:t>Visa / SOP</a:t>
                      </a:r>
                    </a:p>
                  </a:txBody>
                  <a:tcPr/>
                </a:tc>
                <a:extLst>
                  <a:ext uri="{0D108BD9-81ED-4DB2-BD59-A6C34878D82A}">
                    <a16:rowId xmlns:a16="http://schemas.microsoft.com/office/drawing/2014/main" val="10000"/>
                  </a:ext>
                </a:extLst>
              </a:tr>
              <a:tr h="655431">
                <a:tc>
                  <a:txBody>
                    <a:bodyPr/>
                    <a:lstStyle/>
                    <a:p>
                      <a:r>
                        <a:t>AbroadIQ</a:t>
                      </a:r>
                    </a:p>
                  </a:txBody>
                  <a:tcPr/>
                </a:tc>
                <a:tc>
                  <a:txBody>
                    <a:bodyPr/>
                    <a:lstStyle/>
                    <a:p>
                      <a:r>
                        <a:t>AI-matched</a:t>
                      </a:r>
                    </a:p>
                  </a:txBody>
                  <a:tcPr/>
                </a:tc>
                <a:tc>
                  <a:txBody>
                    <a:bodyPr/>
                    <a:lstStyle/>
                    <a:p>
                      <a:r>
                        <a:t>Guidance</a:t>
                      </a:r>
                    </a:p>
                  </a:txBody>
                  <a:tcPr/>
                </a:tc>
                <a:tc>
                  <a:txBody>
                    <a:bodyPr/>
                    <a:lstStyle/>
                    <a:p>
                      <a:r>
                        <a:t>IELTS · PTE</a:t>
                      </a:r>
                    </a:p>
                  </a:txBody>
                  <a:tcPr/>
                </a:tc>
                <a:tc>
                  <a:txBody>
                    <a:bodyPr/>
                    <a:lstStyle/>
                    <a:p>
                      <a:r>
                        <a:t>AI practice</a:t>
                      </a:r>
                    </a:p>
                  </a:txBody>
                  <a:tcPr/>
                </a:tc>
                <a:extLst>
                  <a:ext uri="{0D108BD9-81ED-4DB2-BD59-A6C34878D82A}">
                    <a16:rowId xmlns:a16="http://schemas.microsoft.com/office/drawing/2014/main" val="10001"/>
                  </a:ext>
                </a:extLst>
              </a:tr>
              <a:tr h="655431">
                <a:tc>
                  <a:txBody>
                    <a:bodyPr/>
                    <a:lstStyle/>
                    <a:p>
                      <a:r>
                        <a:t>Yocket</a:t>
                      </a:r>
                    </a:p>
                  </a:txBody>
                  <a:tcPr/>
                </a:tc>
                <a:tc>
                  <a:txBody>
                    <a:bodyPr/>
                    <a:lstStyle/>
                    <a:p>
                      <a:r>
                        <a:t>Personalized</a:t>
                      </a:r>
                    </a:p>
                  </a:txBody>
                  <a:tcPr/>
                </a:tc>
                <a:tc>
                  <a:txBody>
                    <a:bodyPr/>
                    <a:lstStyle/>
                    <a:p>
                      <a:r>
                        <a:t>Counselling</a:t>
                      </a:r>
                    </a:p>
                  </a:txBody>
                  <a:tcPr/>
                </a:tc>
                <a:tc>
                  <a:txBody>
                    <a:bodyPr/>
                    <a:lstStyle/>
                    <a:p>
                      <a:r>
                        <a:t>Limited</a:t>
                      </a:r>
                    </a:p>
                  </a:txBody>
                  <a:tcPr/>
                </a:tc>
                <a:tc>
                  <a:txBody>
                    <a:bodyPr/>
                    <a:lstStyle/>
                    <a:p>
                      <a:r>
                        <a:t>Visa support</a:t>
                      </a:r>
                    </a:p>
                  </a:txBody>
                  <a:tcPr/>
                </a:tc>
                <a:extLst>
                  <a:ext uri="{0D108BD9-81ED-4DB2-BD59-A6C34878D82A}">
                    <a16:rowId xmlns:a16="http://schemas.microsoft.com/office/drawing/2014/main" val="10002"/>
                  </a:ext>
                </a:extLst>
              </a:tr>
              <a:tr h="655431">
                <a:tc>
                  <a:txBody>
                    <a:bodyPr/>
                    <a:lstStyle/>
                    <a:p>
                      <a:r>
                        <a:t>ApplyBoard</a:t>
                      </a:r>
                    </a:p>
                  </a:txBody>
                  <a:tcPr/>
                </a:tc>
                <a:tc>
                  <a:txBody>
                    <a:bodyPr/>
                    <a:lstStyle/>
                    <a:p>
                      <a:r>
                        <a:t>AI search</a:t>
                      </a:r>
                    </a:p>
                  </a:txBody>
                  <a:tcPr/>
                </a:tc>
                <a:tc>
                  <a:txBody>
                    <a:bodyPr/>
                    <a:lstStyle/>
                    <a:p>
                      <a:r>
                        <a:t>Direct</a:t>
                      </a:r>
                    </a:p>
                  </a:txBody>
                  <a:tcPr/>
                </a:tc>
                <a:tc>
                  <a:txBody>
                    <a:bodyPr/>
                    <a:lstStyle/>
                    <a:p>
                      <a:r>
                        <a:t>Limited</a:t>
                      </a:r>
                    </a:p>
                  </a:txBody>
                  <a:tcPr/>
                </a:tc>
                <a:tc>
                  <a:txBody>
                    <a:bodyPr/>
                    <a:lstStyle/>
                    <a:p>
                      <a:r>
                        <a:t>360 services</a:t>
                      </a:r>
                    </a:p>
                  </a:txBody>
                  <a:tcPr/>
                </a:tc>
                <a:extLst>
                  <a:ext uri="{0D108BD9-81ED-4DB2-BD59-A6C34878D82A}">
                    <a16:rowId xmlns:a16="http://schemas.microsoft.com/office/drawing/2014/main" val="10003"/>
                  </a:ext>
                </a:extLst>
              </a:tr>
              <a:tr h="655431">
                <a:tc>
                  <a:txBody>
                    <a:bodyPr/>
                    <a:lstStyle/>
                    <a:p>
                      <a:r>
                        <a:t>IDP</a:t>
                      </a:r>
                    </a:p>
                  </a:txBody>
                  <a:tcPr/>
                </a:tc>
                <a:tc>
                  <a:txBody>
                    <a:bodyPr/>
                    <a:lstStyle/>
                    <a:p>
                      <a:r>
                        <a:t>Counsellor-led</a:t>
                      </a:r>
                    </a:p>
                  </a:txBody>
                  <a:tcPr/>
                </a:tc>
                <a:tc>
                  <a:txBody>
                    <a:bodyPr/>
                    <a:lstStyle/>
                    <a:p>
                      <a:r>
                        <a:t>Assisted</a:t>
                      </a:r>
                    </a:p>
                  </a:txBody>
                  <a:tcPr/>
                </a:tc>
                <a:tc>
                  <a:txBody>
                    <a:bodyPr/>
                    <a:lstStyle/>
                    <a:p>
                      <a:r>
                        <a:t>IELTS</a:t>
                      </a:r>
                    </a:p>
                  </a:txBody>
                  <a:tcPr/>
                </a:tc>
                <a:tc>
                  <a:txBody>
                    <a:bodyPr/>
                    <a:lstStyle/>
                    <a:p>
                      <a:r>
                        <a:t>Visa support</a:t>
                      </a:r>
                    </a:p>
                  </a:txBody>
                  <a:tcPr/>
                </a:tc>
                <a:extLst>
                  <a:ext uri="{0D108BD9-81ED-4DB2-BD59-A6C34878D82A}">
                    <a16:rowId xmlns:a16="http://schemas.microsoft.com/office/drawing/2014/main" val="10004"/>
                  </a:ext>
                </a:extLst>
              </a:tr>
              <a:tr h="655431">
                <a:tc>
                  <a:txBody>
                    <a:bodyPr/>
                    <a:lstStyle/>
                    <a:p>
                      <a:r>
                        <a:t>Magoosh</a:t>
                      </a:r>
                    </a:p>
                  </a:txBody>
                  <a:tcPr/>
                </a:tc>
                <a:tc>
                  <a:txBody>
                    <a:bodyPr/>
                    <a:lstStyle/>
                    <a:p>
                      <a:r>
                        <a:t>—</a:t>
                      </a:r>
                    </a:p>
                  </a:txBody>
                  <a:tcPr/>
                </a:tc>
                <a:tc>
                  <a:txBody>
                    <a:bodyPr/>
                    <a:lstStyle/>
                    <a:p>
                      <a:r>
                        <a:t>—</a:t>
                      </a:r>
                    </a:p>
                  </a:txBody>
                  <a:tcPr/>
                </a:tc>
                <a:tc>
                  <a:txBody>
                    <a:bodyPr/>
                    <a:lstStyle/>
                    <a:p>
                      <a:r>
                        <a:t>IELTS-focused</a:t>
                      </a:r>
                    </a:p>
                  </a:txBody>
                  <a:tcPr/>
                </a:tc>
                <a:tc>
                  <a:txBody>
                    <a:bodyPr/>
                    <a:lstStyle/>
                    <a:p>
                      <a:r>
                        <a:t>—</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3025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Shape-532-p58-2">
            <a:extLst>
              <a:ext uri="{FF2B5EF4-FFF2-40B4-BE49-F238E27FC236}">
                <a16:creationId xmlns:a16="http://schemas.microsoft.com/office/drawing/2014/main" id="{87E17448-74EA-4E01-85F5-C5356CEF0BFC}"/>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07</a:t>
            </a:r>
          </a:p>
        </p:txBody>
      </p:sp>
      <p:sp>
        <p:nvSpPr>
          <p:cNvPr id="2" name="Google-Shape-533-p58-3">
            <a:extLst>
              <a:ext uri="{FF2B5EF4-FFF2-40B4-BE49-F238E27FC236}">
                <a16:creationId xmlns:a16="http://schemas.microsoft.com/office/drawing/2014/main" id="{6A3025C6-B138-4B2F-8ABC-509FEA470B42}"/>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r>
              <a:t>Actors in the AbroadIQ ecosystem</a:t>
            </a:r>
          </a:p>
        </p:txBody>
      </p:sp>
      <p:sp>
        <p:nvSpPr>
          <p:cNvPr id="3" name="Google-Shape-534-p58-4">
            <a:extLst>
              <a:ext uri="{FF2B5EF4-FFF2-40B4-BE49-F238E27FC236}">
                <a16:creationId xmlns:a16="http://schemas.microsoft.com/office/drawing/2014/main" id="{F507DA74-33C9-43C3-8DF2-B645E15F1312}"/>
              </a:ext>
            </a:extLst>
          </p:cNvPr>
          <p:cNvSpPr>
            <a:spLocks noGrp="1"/>
          </p:cNvSpPr>
          <p:nvPr/>
        </p:nvSpPr>
        <p:spPr>
          <a:xfrm>
            <a:off x="393668" y="3365468"/>
            <a:ext cx="3568732" cy="2628900"/>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t>Student / aspirant</a:t>
            </a:r>
          </a:p>
          <a:p>
            <a:pPr algn="l">
              <a:defRPr sz="2400">
                <a:solidFill>
                  <a:srgbClr val="000000"/>
                </a:solidFill>
                <a:latin typeface="Helvetica Neue"/>
                <a:ea typeface="Helvetica Neue"/>
                <a:cs typeface="Helvetica Neue"/>
              </a:defRPr>
            </a:pPr>
            <a:r>
              <a:t>Creates a profile, explores options, prepares, saves scholarships, tracks progress, and requests support.</a:t>
            </a:r>
          </a:p>
        </p:txBody>
      </p:sp>
      <p:sp>
        <p:nvSpPr>
          <p:cNvPr id="4" name="Content-Placeholder-1-5">
            <a:extLst>
              <a:ext uri="{FF2B5EF4-FFF2-40B4-BE49-F238E27FC236}">
                <a16:creationId xmlns:a16="http://schemas.microsoft.com/office/drawing/2014/main" id="{C07463F4-D316-4FBD-8A8B-BA9C885ACB4C}"/>
              </a:ext>
            </a:extLst>
          </p:cNvPr>
          <p:cNvSpPr>
            <a:spLocks noGrp="1"/>
          </p:cNvSpPr>
          <p:nvPr/>
        </p:nvSpPr>
        <p:spPr>
          <a:xfrm>
            <a:off x="8229600" y="3365468"/>
            <a:ext cx="3568732" cy="2628900"/>
          </a:xfrm>
          <a:prstGeom prst="rect">
            <a:avLst/>
          </a:prstGeom>
        </p:spPr>
        <p:txBody>
          <a:bodyPr lIns="91440" tIns="45720" rIns="91440" bIns="45720">
            <a:normAutofit fontScale="91208"/>
          </a:bodyPr>
          <a:lstStyle/>
          <a:p>
            <a:pPr algn="l">
              <a:defRPr sz="2400">
                <a:solidFill>
                  <a:srgbClr val="000000"/>
                </a:solidFill>
                <a:latin typeface="Helvetica Neue"/>
                <a:ea typeface="Helvetica Neue"/>
                <a:cs typeface="Helvetica Neue"/>
              </a:defRPr>
            </a:pPr>
            <a:r>
              <a:t>System actors</a:t>
            </a:r>
          </a:p>
          <a:p>
            <a:pPr algn="l">
              <a:defRPr sz="2400">
                <a:solidFill>
                  <a:srgbClr val="000000"/>
                </a:solidFill>
                <a:latin typeface="Helvetica Neue"/>
                <a:ea typeface="Helvetica Neue"/>
                <a:cs typeface="Helvetica Neue"/>
              </a:defRPr>
            </a:pPr>
            <a:r>
              <a:t>AI services: recommendations and evaluation.
Firebase + notifications: identity, data, history, reminders, and messaging.</a:t>
            </a:r>
          </a:p>
        </p:txBody>
      </p:sp>
      <p:sp>
        <p:nvSpPr>
          <p:cNvPr id="5" name="Content-Placeholder-2-6">
            <a:extLst>
              <a:ext uri="{FF2B5EF4-FFF2-40B4-BE49-F238E27FC236}">
                <a16:creationId xmlns:a16="http://schemas.microsoft.com/office/drawing/2014/main" id="{0FC69B90-3B9B-41E0-B70C-438F9F92AEAB}"/>
              </a:ext>
            </a:extLst>
          </p:cNvPr>
          <p:cNvSpPr>
            <a:spLocks noGrp="1"/>
          </p:cNvSpPr>
          <p:nvPr/>
        </p:nvSpPr>
        <p:spPr>
          <a:xfrm>
            <a:off x="4311682" y="3365468"/>
            <a:ext cx="3568732" cy="2628900"/>
          </a:xfrm>
          <a:prstGeom prst="rect">
            <a:avLst/>
          </a:prstGeom>
        </p:spPr>
        <p:txBody>
          <a:bodyPr lIns="91440" tIns="45720" rIns="91440" bIns="45720">
            <a:normAutofit fontScale="99107"/>
          </a:bodyPr>
          <a:lstStyle/>
          <a:p>
            <a:pPr algn="l">
              <a:defRPr sz="2400">
                <a:solidFill>
                  <a:srgbClr val="000000"/>
                </a:solidFill>
                <a:latin typeface="Helvetica Neue"/>
                <a:ea typeface="Helvetica Neue"/>
                <a:cs typeface="Helvetica Neue"/>
              </a:defRPr>
            </a:pPr>
            <a:r>
              <a:t>People and content roles</a:t>
            </a:r>
          </a:p>
          <a:p>
            <a:pPr algn="l">
              <a:defRPr sz="2400">
                <a:solidFill>
                  <a:srgbClr val="000000"/>
                </a:solidFill>
                <a:latin typeface="Helvetica Neue"/>
                <a:ea typeface="Helvetica Neue"/>
                <a:cs typeface="Helvetica Neue"/>
              </a:defRPr>
            </a:pPr>
            <a:r>
              <a:t>Consultant: advises through chat/call.
Admin / content manager: manages data, moderation, and learning content.</a:t>
            </a:r>
          </a:p>
        </p:txBody>
      </p:sp>
    </p:spTree>
    <p:extLst>
      <p:ext uri="{BB962C8B-B14F-4D97-AF65-F5344CB8AC3E}">
        <p14:creationId xmlns:p14="http://schemas.microsoft.com/office/powerpoint/2010/main" val="996795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Number-Placeholder-3-2">
            <a:extLst>
              <a:ext uri="{FF2B5EF4-FFF2-40B4-BE49-F238E27FC236}">
                <a16:creationId xmlns:a16="http://schemas.microsoft.com/office/drawing/2014/main" id="{9228C061-F04F-4FB9-B564-9AB114DEFFE2}"/>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08</a:t>
            </a:r>
          </a:p>
        </p:txBody>
      </p:sp>
      <p:sp>
        <p:nvSpPr>
          <p:cNvPr id="2" name="Title-10-3">
            <a:extLst>
              <a:ext uri="{FF2B5EF4-FFF2-40B4-BE49-F238E27FC236}">
                <a16:creationId xmlns:a16="http://schemas.microsoft.com/office/drawing/2014/main" id="{A72AAFE7-EF59-4B53-980E-A49C311334D8}"/>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Product backlog: epics</a:t>
            </a:r>
          </a:p>
        </p:txBody>
      </p:sp>
      <p:sp>
        <p:nvSpPr>
          <p:cNvPr id="3" name="Content-Placeholder-15-4">
            <a:extLst>
              <a:ext uri="{FF2B5EF4-FFF2-40B4-BE49-F238E27FC236}">
                <a16:creationId xmlns:a16="http://schemas.microsoft.com/office/drawing/2014/main" id="{44535306-6895-4640-A5B0-90475477BFAA}"/>
              </a:ext>
            </a:extLst>
          </p:cNvPr>
          <p:cNvSpPr>
            <a:spLocks noGrp="1"/>
          </p:cNvSpPr>
          <p:nvPr/>
        </p:nvSpPr>
        <p:spPr>
          <a:xfrm>
            <a:off x="393668" y="4161092"/>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E5 · Visa interview</a:t>
            </a:r>
          </a:p>
          <a:p>
            <a:pPr algn="l">
              <a:defRPr sz="1600">
                <a:solidFill>
                  <a:srgbClr val="000000"/>
                </a:solidFill>
                <a:latin typeface="Helvetica Neue"/>
                <a:ea typeface="Helvetica Neue"/>
                <a:cs typeface="Helvetica Neue"/>
              </a:defRPr>
            </a:pPr>
            <a:r>
              <a:t>Country topics, dynamic sessions, speech, evaluation, and reports.</a:t>
            </a:r>
          </a:p>
        </p:txBody>
      </p:sp>
      <p:sp>
        <p:nvSpPr>
          <p:cNvPr id="4" name="Text-Placeholder-16-5">
            <a:extLst>
              <a:ext uri="{FF2B5EF4-FFF2-40B4-BE49-F238E27FC236}">
                <a16:creationId xmlns:a16="http://schemas.microsoft.com/office/drawing/2014/main" id="{D75F9925-DF9B-48A4-B1C2-BF9B4E5A61B7}"/>
              </a:ext>
            </a:extLst>
          </p:cNvPr>
          <p:cNvSpPr>
            <a:spLocks noGrp="1"/>
          </p:cNvSpPr>
          <p:nvPr/>
        </p:nvSpPr>
        <p:spPr>
          <a:xfrm>
            <a:off x="3334988" y="4161092"/>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E6 · SOP &amp; documents</a:t>
            </a:r>
          </a:p>
          <a:p>
            <a:pPr algn="l">
              <a:defRPr sz="1800">
                <a:solidFill>
                  <a:srgbClr val="000000"/>
                </a:solidFill>
                <a:latin typeface="Helvetica Neue"/>
                <a:ea typeface="Helvetica Neue"/>
                <a:cs typeface="Helvetica Neue"/>
              </a:defRPr>
            </a:pPr>
            <a:r>
              <a:t>Profile intake, SOP generation, editing, and document guidance.</a:t>
            </a:r>
          </a:p>
        </p:txBody>
      </p:sp>
      <p:sp>
        <p:nvSpPr>
          <p:cNvPr id="5" name="Content-Placeholder-17-6">
            <a:extLst>
              <a:ext uri="{FF2B5EF4-FFF2-40B4-BE49-F238E27FC236}">
                <a16:creationId xmlns:a16="http://schemas.microsoft.com/office/drawing/2014/main" id="{F24F1F10-9637-412F-A2E8-C091F9799282}"/>
              </a:ext>
            </a:extLst>
          </p:cNvPr>
          <p:cNvSpPr>
            <a:spLocks noGrp="1"/>
          </p:cNvSpPr>
          <p:nvPr/>
        </p:nvSpPr>
        <p:spPr>
          <a:xfrm>
            <a:off x="6264402" y="4161092"/>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E7 · Roadmap &amp; experts</a:t>
            </a:r>
          </a:p>
          <a:p>
            <a:pPr algn="l">
              <a:defRPr sz="1600">
                <a:solidFill>
                  <a:srgbClr val="000000"/>
                </a:solidFill>
                <a:latin typeface="Helvetica Neue"/>
                <a:ea typeface="Helvetica Neue"/>
                <a:cs typeface="Helvetica Neue"/>
              </a:defRPr>
            </a:pPr>
            <a:r>
              <a:t>Milestones, consultant chat/call, and application guidance.</a:t>
            </a:r>
          </a:p>
        </p:txBody>
      </p:sp>
      <p:sp>
        <p:nvSpPr>
          <p:cNvPr id="6" name="Text-Placeholder-18-7">
            <a:extLst>
              <a:ext uri="{FF2B5EF4-FFF2-40B4-BE49-F238E27FC236}">
                <a16:creationId xmlns:a16="http://schemas.microsoft.com/office/drawing/2014/main" id="{8FF88D61-8E65-4F9E-BC93-25E18107BA00}"/>
              </a:ext>
            </a:extLst>
          </p:cNvPr>
          <p:cNvSpPr>
            <a:spLocks noGrp="1"/>
          </p:cNvSpPr>
          <p:nvPr/>
        </p:nvSpPr>
        <p:spPr>
          <a:xfrm>
            <a:off x="9205722" y="4161092"/>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E8 · Community &amp; insights</a:t>
            </a:r>
          </a:p>
          <a:p>
            <a:pPr algn="l">
              <a:defRPr sz="1800">
                <a:solidFill>
                  <a:srgbClr val="000000"/>
                </a:solidFill>
                <a:latin typeface="Helvetica Neue"/>
                <a:ea typeface="Helvetica Neue"/>
                <a:cs typeface="Helvetica Neue"/>
              </a:defRPr>
            </a:pPr>
            <a:r>
              <a:t>Posts, comments, chatbot, dashboards, notifications, analytics.</a:t>
            </a:r>
          </a:p>
        </p:txBody>
      </p:sp>
      <p:sp>
        <p:nvSpPr>
          <p:cNvPr id="7" name="Content-Placeholder-15-8">
            <a:extLst>
              <a:ext uri="{FF2B5EF4-FFF2-40B4-BE49-F238E27FC236}">
                <a16:creationId xmlns:a16="http://schemas.microsoft.com/office/drawing/2014/main" id="{737B1B1E-C664-4D50-8B75-5A1D0FAA1C62}"/>
              </a:ext>
            </a:extLst>
          </p:cNvPr>
          <p:cNvSpPr>
            <a:spLocks noGrp="1"/>
          </p:cNvSpPr>
          <p:nvPr/>
        </p:nvSpPr>
        <p:spPr>
          <a:xfrm>
            <a:off x="393668" y="2208086"/>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E1 · Identity &amp; profile</a:t>
            </a:r>
          </a:p>
          <a:p>
            <a:pPr algn="l">
              <a:defRPr sz="1600">
                <a:solidFill>
                  <a:srgbClr val="000000"/>
                </a:solidFill>
                <a:latin typeface="Helvetica Neue"/>
                <a:ea typeface="Helvetica Neue"/>
                <a:cs typeface="Helvetica Neue"/>
              </a:defRPr>
            </a:pPr>
            <a:r>
              <a:t>Authentication, qualifications, goals, budget, and profile completion.</a:t>
            </a:r>
          </a:p>
        </p:txBody>
      </p:sp>
      <p:sp>
        <p:nvSpPr>
          <p:cNvPr id="8" name="Text-Placeholder-16-9">
            <a:extLst>
              <a:ext uri="{FF2B5EF4-FFF2-40B4-BE49-F238E27FC236}">
                <a16:creationId xmlns:a16="http://schemas.microsoft.com/office/drawing/2014/main" id="{622F5EEB-BB83-4B2E-A673-FD8FD8233A7B}"/>
              </a:ext>
            </a:extLst>
          </p:cNvPr>
          <p:cNvSpPr>
            <a:spLocks noGrp="1"/>
          </p:cNvSpPr>
          <p:nvPr/>
        </p:nvSpPr>
        <p:spPr>
          <a:xfrm>
            <a:off x="3334988" y="2208086"/>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E2 · Discovery &amp; fit</a:t>
            </a:r>
          </a:p>
          <a:p>
            <a:pPr algn="l">
              <a:defRPr sz="1800">
                <a:solidFill>
                  <a:srgbClr val="000000"/>
                </a:solidFill>
                <a:latin typeface="Helvetica Neue"/>
                <a:ea typeface="Helvetica Neue"/>
                <a:cs typeface="Helvetica Neue"/>
              </a:defRPr>
            </a:pPr>
            <a:r>
              <a:t>Universities, programs, costs, filters, recommendations, eligibility.</a:t>
            </a:r>
          </a:p>
        </p:txBody>
      </p:sp>
      <p:sp>
        <p:nvSpPr>
          <p:cNvPr id="9" name="Content-Placeholder-17-10">
            <a:extLst>
              <a:ext uri="{FF2B5EF4-FFF2-40B4-BE49-F238E27FC236}">
                <a16:creationId xmlns:a16="http://schemas.microsoft.com/office/drawing/2014/main" id="{7EE1E4CB-C990-484A-B3F1-9D43472A7481}"/>
              </a:ext>
            </a:extLst>
          </p:cNvPr>
          <p:cNvSpPr>
            <a:spLocks noGrp="1"/>
          </p:cNvSpPr>
          <p:nvPr/>
        </p:nvSpPr>
        <p:spPr>
          <a:xfrm>
            <a:off x="6264402" y="2208086"/>
            <a:ext cx="2595944" cy="1415606"/>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E3 · Scholarships</a:t>
            </a:r>
          </a:p>
          <a:p>
            <a:pPr algn="l">
              <a:defRPr sz="1600">
                <a:solidFill>
                  <a:srgbClr val="000000"/>
                </a:solidFill>
                <a:latin typeface="Helvetica Neue"/>
                <a:ea typeface="Helvetica Neue"/>
                <a:cs typeface="Helvetica Neue"/>
              </a:defRPr>
            </a:pPr>
            <a:r>
              <a:t>Eligibility matching, favourites, rolling dates, and reminders.</a:t>
            </a:r>
          </a:p>
        </p:txBody>
      </p:sp>
      <p:sp>
        <p:nvSpPr>
          <p:cNvPr id="10" name="Text-Placeholder-18-11">
            <a:extLst>
              <a:ext uri="{FF2B5EF4-FFF2-40B4-BE49-F238E27FC236}">
                <a16:creationId xmlns:a16="http://schemas.microsoft.com/office/drawing/2014/main" id="{396BFD4D-C872-4A50-8772-7DFF717F3D55}"/>
              </a:ext>
            </a:extLst>
          </p:cNvPr>
          <p:cNvSpPr>
            <a:spLocks noGrp="1"/>
          </p:cNvSpPr>
          <p:nvPr/>
        </p:nvSpPr>
        <p:spPr>
          <a:xfrm>
            <a:off x="9205722" y="2208086"/>
            <a:ext cx="2595944" cy="1415606"/>
          </a:xfrm>
          <a:prstGeom prst="rect">
            <a:avLst/>
          </a:prstGeom>
        </p:spPr>
        <p:txBody>
          <a:bodyPr lIns="0" tIns="0" rIns="0" bIns="0">
            <a:noAutofit/>
          </a:bodyPr>
          <a:lstStyle/>
          <a:p>
            <a:pPr algn="l">
              <a:defRPr sz="1800">
                <a:solidFill>
                  <a:srgbClr val="000000"/>
                </a:solidFill>
                <a:latin typeface="Helvetica Neue"/>
                <a:ea typeface="Helvetica Neue"/>
                <a:cs typeface="Helvetica Neue"/>
              </a:defRPr>
            </a:pPr>
            <a:r>
              <a:t>E4 · Test preparation</a:t>
            </a:r>
          </a:p>
          <a:p>
            <a:pPr algn="l">
              <a:defRPr sz="1800">
                <a:solidFill>
                  <a:srgbClr val="000000"/>
                </a:solidFill>
                <a:latin typeface="Helvetica Neue"/>
                <a:ea typeface="Helvetica Neue"/>
                <a:cs typeface="Helvetica Neue"/>
              </a:defRPr>
            </a:pPr>
            <a:r>
              <a:t>IELTS, PTE, SAT, English Foundation, quizzes, and progress.</a:t>
            </a:r>
          </a:p>
        </p:txBody>
      </p:sp>
    </p:spTree>
    <p:extLst>
      <p:ext uri="{BB962C8B-B14F-4D97-AF65-F5344CB8AC3E}">
        <p14:creationId xmlns:p14="http://schemas.microsoft.com/office/powerpoint/2010/main" val="1500393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Shape-532-p58-2">
            <a:extLst>
              <a:ext uri="{FF2B5EF4-FFF2-40B4-BE49-F238E27FC236}">
                <a16:creationId xmlns:a16="http://schemas.microsoft.com/office/drawing/2014/main" id="{EB53CDA8-94A2-4292-8F89-0E4297ED7E6C}"/>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09</a:t>
            </a:r>
          </a:p>
        </p:txBody>
      </p:sp>
      <p:sp>
        <p:nvSpPr>
          <p:cNvPr id="2" name="Google-Shape-533-p58-3">
            <a:extLst>
              <a:ext uri="{FF2B5EF4-FFF2-40B4-BE49-F238E27FC236}">
                <a16:creationId xmlns:a16="http://schemas.microsoft.com/office/drawing/2014/main" id="{26ED65F4-3265-425A-B6DB-C32404713473}"/>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r>
              <a:t>User stories: discovery, fit, and funding</a:t>
            </a:r>
          </a:p>
        </p:txBody>
      </p:sp>
      <p:sp>
        <p:nvSpPr>
          <p:cNvPr id="3" name="Google-Shape-534-p58-4">
            <a:extLst>
              <a:ext uri="{FF2B5EF4-FFF2-40B4-BE49-F238E27FC236}">
                <a16:creationId xmlns:a16="http://schemas.microsoft.com/office/drawing/2014/main" id="{D2792FE7-2F82-45EA-9E31-5D6FF573BF7C}"/>
              </a:ext>
            </a:extLst>
          </p:cNvPr>
          <p:cNvSpPr>
            <a:spLocks noGrp="1"/>
          </p:cNvSpPr>
          <p:nvPr/>
        </p:nvSpPr>
        <p:spPr>
          <a:xfrm>
            <a:off x="393668" y="3365468"/>
            <a:ext cx="3568732" cy="2628900"/>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t>Discover</a:t>
            </a:r>
          </a:p>
          <a:p>
            <a:pPr algn="l">
              <a:defRPr sz="2400">
                <a:solidFill>
                  <a:srgbClr val="000000"/>
                </a:solidFill>
                <a:latin typeface="Helvetica Neue"/>
                <a:ea typeface="Helvetica Neue"/>
                <a:cs typeface="Helvetica Neue"/>
              </a:defRPr>
            </a:pPr>
            <a:r>
              <a:t>As a student, I want to filter universities and inspect programs, fees, rankings, and scholarships so that I can build a realistic shortlist.</a:t>
            </a:r>
          </a:p>
        </p:txBody>
      </p:sp>
      <p:sp>
        <p:nvSpPr>
          <p:cNvPr id="4" name="Content-Placeholder-1-5">
            <a:extLst>
              <a:ext uri="{FF2B5EF4-FFF2-40B4-BE49-F238E27FC236}">
                <a16:creationId xmlns:a16="http://schemas.microsoft.com/office/drawing/2014/main" id="{282EB3A0-0E8F-45D3-B000-E4ECF0C38A27}"/>
              </a:ext>
            </a:extLst>
          </p:cNvPr>
          <p:cNvSpPr>
            <a:spLocks noGrp="1"/>
          </p:cNvSpPr>
          <p:nvPr/>
        </p:nvSpPr>
        <p:spPr>
          <a:xfrm>
            <a:off x="8229600" y="3365468"/>
            <a:ext cx="3568732" cy="2628900"/>
          </a:xfrm>
          <a:prstGeom prst="rect">
            <a:avLst/>
          </a:prstGeom>
        </p:spPr>
        <p:txBody>
          <a:bodyPr lIns="91440" tIns="45720" rIns="91440" bIns="45720">
            <a:normAutofit fontScale="99623"/>
          </a:bodyPr>
          <a:lstStyle/>
          <a:p>
            <a:pPr algn="l">
              <a:defRPr sz="2400">
                <a:solidFill>
                  <a:srgbClr val="000000"/>
                </a:solidFill>
                <a:latin typeface="Helvetica Neue"/>
                <a:ea typeface="Helvetica Neue"/>
                <a:cs typeface="Helvetica Neue"/>
              </a:defRPr>
            </a:pPr>
            <a:r>
              <a:t>Fund</a:t>
            </a:r>
          </a:p>
          <a:p>
            <a:pPr algn="l">
              <a:defRPr sz="2400">
                <a:solidFill>
                  <a:srgbClr val="000000"/>
                </a:solidFill>
                <a:latin typeface="Helvetica Neue"/>
                <a:ea typeface="Helvetica Neue"/>
                <a:cs typeface="Helvetica Neue"/>
              </a:defRPr>
            </a:pPr>
            <a:r>
              <a:t>As a student, I want eligible scholarships, favourites, and opening reminders so that I do not miss funding opportunities.</a:t>
            </a:r>
          </a:p>
        </p:txBody>
      </p:sp>
      <p:sp>
        <p:nvSpPr>
          <p:cNvPr id="5" name="Content-Placeholder-2-6">
            <a:extLst>
              <a:ext uri="{FF2B5EF4-FFF2-40B4-BE49-F238E27FC236}">
                <a16:creationId xmlns:a16="http://schemas.microsoft.com/office/drawing/2014/main" id="{4F344D28-534E-471A-96EA-068FE4FB0BB5}"/>
              </a:ext>
            </a:extLst>
          </p:cNvPr>
          <p:cNvSpPr>
            <a:spLocks noGrp="1"/>
          </p:cNvSpPr>
          <p:nvPr/>
        </p:nvSpPr>
        <p:spPr>
          <a:xfrm>
            <a:off x="4311682" y="3365468"/>
            <a:ext cx="3568732" cy="2628900"/>
          </a:xfrm>
          <a:prstGeom prst="rect">
            <a:avLst/>
          </a:prstGeom>
        </p:spPr>
        <p:txBody>
          <a:bodyPr lIns="91440" tIns="45720" rIns="91440" bIns="45720">
            <a:normAutofit fontScale="99107"/>
          </a:bodyPr>
          <a:lstStyle/>
          <a:p>
            <a:pPr algn="l">
              <a:defRPr sz="2400">
                <a:solidFill>
                  <a:srgbClr val="000000"/>
                </a:solidFill>
                <a:latin typeface="Helvetica Neue"/>
                <a:ea typeface="Helvetica Neue"/>
                <a:cs typeface="Helvetica Neue"/>
              </a:defRPr>
            </a:pPr>
            <a:r>
              <a:t>Evaluate</a:t>
            </a:r>
          </a:p>
          <a:p>
            <a:pPr algn="l">
              <a:defRPr sz="2400">
                <a:solidFill>
                  <a:srgbClr val="000000"/>
                </a:solidFill>
                <a:latin typeface="Helvetica Neue"/>
                <a:ea typeface="Helvetica Neue"/>
                <a:cs typeface="Helvetica Neue"/>
              </a:defRPr>
            </a:pPr>
            <a:r>
              <a:t>As a student, I want my profile classified against university requirements so that I can compare Safe, Target, and Ambitious options.</a:t>
            </a:r>
          </a:p>
        </p:txBody>
      </p:sp>
    </p:spTree>
    <p:extLst>
      <p:ext uri="{BB962C8B-B14F-4D97-AF65-F5344CB8AC3E}">
        <p14:creationId xmlns:p14="http://schemas.microsoft.com/office/powerpoint/2010/main" val="550221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Number-Placeholder-1-2">
            <a:extLst>
              <a:ext uri="{FF2B5EF4-FFF2-40B4-BE49-F238E27FC236}">
                <a16:creationId xmlns:a16="http://schemas.microsoft.com/office/drawing/2014/main" id="{68C50397-743D-4D52-8EC5-9104E297A839}"/>
              </a:ext>
            </a:extLst>
          </p:cNvPr>
          <p:cNvSpPr>
            <a:spLocks noGrp="1"/>
          </p:cNvSpPr>
          <p:nvPr/>
        </p:nvSpPr>
        <p:spPr>
          <a:xfrm>
            <a:off x="11279219" y="6278594"/>
            <a:ext cx="519113"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10</a:t>
            </a:r>
          </a:p>
        </p:txBody>
      </p:sp>
      <p:sp>
        <p:nvSpPr>
          <p:cNvPr id="2" name="Title-2-3">
            <a:extLst>
              <a:ext uri="{FF2B5EF4-FFF2-40B4-BE49-F238E27FC236}">
                <a16:creationId xmlns:a16="http://schemas.microsoft.com/office/drawing/2014/main" id="{20C397E3-2F66-4C93-8F49-EC6935BE8359}"/>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User stories: preparation, guidance, and progress</a:t>
            </a:r>
          </a:p>
        </p:txBody>
      </p:sp>
      <p:sp>
        <p:nvSpPr>
          <p:cNvPr id="3" name="Content-Placeholder-9-4">
            <a:extLst>
              <a:ext uri="{FF2B5EF4-FFF2-40B4-BE49-F238E27FC236}">
                <a16:creationId xmlns:a16="http://schemas.microsoft.com/office/drawing/2014/main" id="{3A29E9CE-5CC0-45A4-8D67-7F9505E74284}"/>
              </a:ext>
            </a:extLst>
          </p:cNvPr>
          <p:cNvSpPr>
            <a:spLocks noGrp="1"/>
          </p:cNvSpPr>
          <p:nvPr/>
        </p:nvSpPr>
        <p:spPr>
          <a:xfrm>
            <a:off x="393668" y="2031968"/>
            <a:ext cx="5537168" cy="1643063"/>
          </a:xfrm>
          <a:prstGeom prst="rect">
            <a:avLst/>
          </a:prstGeom>
        </p:spPr>
        <p:txBody>
          <a:bodyPr lIns="91440" tIns="45720" rIns="91440" bIns="45720"/>
          <a:lstStyle/>
          <a:p>
            <a:pPr algn="l">
              <a:defRPr sz="2400">
                <a:solidFill>
                  <a:srgbClr val="000000"/>
                </a:solidFill>
                <a:latin typeface="Helvetica Neue"/>
                <a:ea typeface="Helvetica Neue"/>
                <a:cs typeface="Helvetica Neue"/>
              </a:defRPr>
            </a:pPr>
            <a:r>
              <a:t>Prepare</a:t>
            </a:r>
          </a:p>
          <a:p>
            <a:pPr algn="l">
              <a:defRPr sz="2400">
                <a:solidFill>
                  <a:srgbClr val="000000"/>
                </a:solidFill>
                <a:latin typeface="Helvetica Neue"/>
                <a:ea typeface="Helvetica Neue"/>
                <a:cs typeface="Helvetica Neue"/>
              </a:defRPr>
            </a:pPr>
            <a:r>
              <a:t>As a student, I want structured IELTS, PTE, SAT, and English lessons with mock tests so that I can improve by skill.</a:t>
            </a:r>
          </a:p>
        </p:txBody>
      </p:sp>
      <p:sp>
        <p:nvSpPr>
          <p:cNvPr id="4" name="Content-Placeholder-10-5">
            <a:extLst>
              <a:ext uri="{FF2B5EF4-FFF2-40B4-BE49-F238E27FC236}">
                <a16:creationId xmlns:a16="http://schemas.microsoft.com/office/drawing/2014/main" id="{1651E2E7-1286-43D8-8969-8F2B84D59249}"/>
              </a:ext>
            </a:extLst>
          </p:cNvPr>
          <p:cNvSpPr>
            <a:spLocks noGrp="1"/>
          </p:cNvSpPr>
          <p:nvPr/>
        </p:nvSpPr>
        <p:spPr>
          <a:xfrm>
            <a:off x="6256592" y="2031968"/>
            <a:ext cx="5537168" cy="1643063"/>
          </a:xfrm>
          <a:prstGeom prst="rect">
            <a:avLst/>
          </a:prstGeom>
        </p:spPr>
        <p:txBody>
          <a:bodyPr lIns="91440" tIns="45720" rIns="91440" bIns="45720"/>
          <a:lstStyle/>
          <a:p>
            <a:pPr algn="l">
              <a:defRPr sz="2400">
                <a:solidFill>
                  <a:srgbClr val="000000"/>
                </a:solidFill>
                <a:latin typeface="Helvetica Neue"/>
                <a:ea typeface="Helvetica Neue"/>
                <a:cs typeface="Helvetica Neue"/>
              </a:defRPr>
            </a:pPr>
            <a:r>
              <a:t>Practice interviews</a:t>
            </a:r>
          </a:p>
          <a:p>
            <a:pPr algn="l">
              <a:defRPr sz="2400">
                <a:solidFill>
                  <a:srgbClr val="000000"/>
                </a:solidFill>
                <a:latin typeface="Helvetica Neue"/>
                <a:ea typeface="Helvetica Neue"/>
                <a:cs typeface="Helvetica Neue"/>
              </a:defRPr>
            </a:pPr>
            <a:r>
              <a:t>As a student, I want varied visa questions, live transcripts, and structured feedback so that I can answer confidently.</a:t>
            </a:r>
          </a:p>
        </p:txBody>
      </p:sp>
      <p:sp>
        <p:nvSpPr>
          <p:cNvPr id="5" name="Content-Placeholder-9-6">
            <a:extLst>
              <a:ext uri="{FF2B5EF4-FFF2-40B4-BE49-F238E27FC236}">
                <a16:creationId xmlns:a16="http://schemas.microsoft.com/office/drawing/2014/main" id="{39D62260-3F36-44CC-AD6D-88311D6188FD}"/>
              </a:ext>
            </a:extLst>
          </p:cNvPr>
          <p:cNvSpPr>
            <a:spLocks noGrp="1"/>
          </p:cNvSpPr>
          <p:nvPr/>
        </p:nvSpPr>
        <p:spPr>
          <a:xfrm>
            <a:off x="393668" y="4016978"/>
            <a:ext cx="5537168" cy="1643158"/>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Build an application</a:t>
            </a:r>
          </a:p>
          <a:p>
            <a:pPr algn="l">
              <a:defRPr sz="2400">
                <a:solidFill>
                  <a:srgbClr val="000000"/>
                </a:solidFill>
                <a:latin typeface="Helvetica Neue"/>
                <a:ea typeface="Helvetica Neue"/>
                <a:cs typeface="Helvetica Neue"/>
              </a:defRPr>
            </a:pPr>
            <a:r>
              <a:t>As a student, I want SOP guidance, checklists, and a country roadmap so that I can complete the right steps in sequence.</a:t>
            </a:r>
          </a:p>
        </p:txBody>
      </p:sp>
      <p:sp>
        <p:nvSpPr>
          <p:cNvPr id="6" name="Content-Placeholder-10-7">
            <a:extLst>
              <a:ext uri="{FF2B5EF4-FFF2-40B4-BE49-F238E27FC236}">
                <a16:creationId xmlns:a16="http://schemas.microsoft.com/office/drawing/2014/main" id="{CC33BB22-10A9-4BD4-B5B9-CD3EA50EAF50}"/>
              </a:ext>
            </a:extLst>
          </p:cNvPr>
          <p:cNvSpPr>
            <a:spLocks noGrp="1"/>
          </p:cNvSpPr>
          <p:nvPr/>
        </p:nvSpPr>
        <p:spPr>
          <a:xfrm>
            <a:off x="6256592" y="4016978"/>
            <a:ext cx="5537168" cy="1643158"/>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Get support</a:t>
            </a:r>
          </a:p>
          <a:p>
            <a:pPr algn="l">
              <a:defRPr sz="2400">
                <a:solidFill>
                  <a:srgbClr val="000000"/>
                </a:solidFill>
                <a:latin typeface="Helvetica Neue"/>
                <a:ea typeface="Helvetica Neue"/>
                <a:cs typeface="Helvetica Neue"/>
              </a:defRPr>
            </a:pPr>
            <a:r>
              <a:t>As a student, I want consultant, community, chatbot, and progress views so that help and evidence remain accessible.</a:t>
            </a:r>
          </a:p>
        </p:txBody>
      </p:sp>
    </p:spTree>
    <p:extLst>
      <p:ext uri="{BB962C8B-B14F-4D97-AF65-F5344CB8AC3E}">
        <p14:creationId xmlns:p14="http://schemas.microsoft.com/office/powerpoint/2010/main" val="147306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Number-Placeholder-3-2">
            <a:extLst>
              <a:ext uri="{FF2B5EF4-FFF2-40B4-BE49-F238E27FC236}">
                <a16:creationId xmlns:a16="http://schemas.microsoft.com/office/drawing/2014/main" id="{A46DFBAC-A6C3-479E-85B4-58A4B3A6439D}"/>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11</a:t>
            </a:r>
          </a:p>
        </p:txBody>
      </p:sp>
      <p:sp>
        <p:nvSpPr>
          <p:cNvPr id="2" name="Title-10-3">
            <a:extLst>
              <a:ext uri="{FF2B5EF4-FFF2-40B4-BE49-F238E27FC236}">
                <a16:creationId xmlns:a16="http://schemas.microsoft.com/office/drawing/2014/main" id="{20ACA34B-FF15-4B34-B022-C69735D27C1A}"/>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Sprint backlog summary · foundation to recommendations</a:t>
            </a:r>
          </a:p>
        </p:txBody>
      </p:sp>
      <p:cxnSp>
        <p:nvCxnSpPr>
          <p:cNvPr id="18" name="Google-Shape-2259-p159-4"/>
          <p:cNvCxnSpPr/>
          <p:nvPr/>
        </p:nvCxnSpPr>
        <p:spPr>
          <a:xfrm>
            <a:off x="337757" y="5341620"/>
            <a:ext cx="12245435" cy="286"/>
          </a:xfrm>
          <a:prstGeom prst="straightConnector1">
            <a:avLst/>
          </a:prstGeom>
          <a:ln w="9525">
            <a:solidFill>
              <a:srgbClr val="000000"/>
            </a:solidFill>
            <a:prstDash val="solid"/>
          </a:ln>
        </p:spPr>
      </p:cxnSp>
      <p:sp>
        <p:nvSpPr>
          <p:cNvPr id="4" name="Google-Shape-2260-p159-5">
            <a:extLst>
              <a:ext uri="{FF2B5EF4-FFF2-40B4-BE49-F238E27FC236}">
                <a16:creationId xmlns:a16="http://schemas.microsoft.com/office/drawing/2014/main" id="{B48EA422-DC9A-40F0-A47B-55743D11C875}"/>
              </a:ext>
            </a:extLst>
          </p:cNvPr>
          <p:cNvSpPr>
            <a:spLocks noGrp="1"/>
          </p:cNvSpPr>
          <p:nvPr/>
        </p:nvSpPr>
        <p:spPr>
          <a:xfrm>
            <a:off x="337757" y="5288089"/>
            <a:ext cx="107061" cy="107061"/>
          </a:xfrm>
          <a:prstGeom prst="ellipse">
            <a:avLst/>
          </a:prstGeom>
          <a:solidFill>
            <a:srgbClr val="000000"/>
          </a:solidFill>
        </p:spPr>
      </p:sp>
      <p:sp>
        <p:nvSpPr>
          <p:cNvPr id="5" name="Google-Shape-2261-p159-6">
            <a:extLst>
              <a:ext uri="{FF2B5EF4-FFF2-40B4-BE49-F238E27FC236}">
                <a16:creationId xmlns:a16="http://schemas.microsoft.com/office/drawing/2014/main" id="{C75AD6B1-2959-4E62-8D55-18843F00792E}"/>
              </a:ext>
            </a:extLst>
          </p:cNvPr>
          <p:cNvSpPr>
            <a:spLocks noGrp="1"/>
          </p:cNvSpPr>
          <p:nvPr/>
        </p:nvSpPr>
        <p:spPr>
          <a:xfrm>
            <a:off x="4251770" y="5288089"/>
            <a:ext cx="107061" cy="107061"/>
          </a:xfrm>
          <a:prstGeom prst="ellipse">
            <a:avLst/>
          </a:prstGeom>
          <a:solidFill>
            <a:srgbClr val="000000"/>
          </a:solidFill>
        </p:spPr>
      </p:sp>
      <p:sp>
        <p:nvSpPr>
          <p:cNvPr id="6" name="Google-Shape-2262-p159-7">
            <a:extLst>
              <a:ext uri="{FF2B5EF4-FFF2-40B4-BE49-F238E27FC236}">
                <a16:creationId xmlns:a16="http://schemas.microsoft.com/office/drawing/2014/main" id="{4B253F60-9720-4262-9BA4-2FD894236612}"/>
              </a:ext>
            </a:extLst>
          </p:cNvPr>
          <p:cNvSpPr>
            <a:spLocks noGrp="1"/>
          </p:cNvSpPr>
          <p:nvPr/>
        </p:nvSpPr>
        <p:spPr>
          <a:xfrm>
            <a:off x="8176070" y="5288089"/>
            <a:ext cx="107061" cy="107061"/>
          </a:xfrm>
          <a:prstGeom prst="ellipse">
            <a:avLst/>
          </a:prstGeom>
          <a:solidFill>
            <a:srgbClr val="000000"/>
          </a:solidFill>
        </p:spPr>
      </p:sp>
      <p:sp>
        <p:nvSpPr>
          <p:cNvPr id="7" name="Rounded-Rectangle-19-8">
            <a:extLst>
              <a:ext uri="{FF2B5EF4-FFF2-40B4-BE49-F238E27FC236}">
                <a16:creationId xmlns:a16="http://schemas.microsoft.com/office/drawing/2014/main" id="{E49F90F8-092F-4828-8D09-0CDA82F7273C}"/>
              </a:ext>
            </a:extLst>
          </p:cNvPr>
          <p:cNvSpPr>
            <a:spLocks noGrp="1"/>
          </p:cNvSpPr>
          <p:nvPr/>
        </p:nvSpPr>
        <p:spPr>
          <a:xfrm>
            <a:off x="393668" y="1401794"/>
            <a:ext cx="3568732" cy="3619500"/>
          </a:xfrm>
          <a:prstGeom prst="roundRect">
            <a:avLst>
              <a:gd name="adj" fmla="val 2135"/>
            </a:avLst>
          </a:prstGeom>
          <a:solidFill>
            <a:srgbClr val="F2F2F2"/>
          </a:solidFill>
        </p:spPr>
      </p:sp>
      <p:sp>
        <p:nvSpPr>
          <p:cNvPr id="8" name="Content-Placeholder-8-9">
            <a:extLst>
              <a:ext uri="{FF2B5EF4-FFF2-40B4-BE49-F238E27FC236}">
                <a16:creationId xmlns:a16="http://schemas.microsoft.com/office/drawing/2014/main" id="{501BF828-D2B5-441D-B400-FB46D943DC22}"/>
              </a:ext>
            </a:extLst>
          </p:cNvPr>
          <p:cNvSpPr>
            <a:spLocks noGrp="1"/>
          </p:cNvSpPr>
          <p:nvPr/>
        </p:nvSpPr>
        <p:spPr>
          <a:xfrm>
            <a:off x="703421" y="1806797"/>
            <a:ext cx="2949321" cy="2566797"/>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Platform foundation</a:t>
            </a:r>
          </a:p>
          <a:p>
            <a:pPr algn="l">
              <a:defRPr sz="1600">
                <a:solidFill>
                  <a:srgbClr val="000000"/>
                </a:solidFill>
                <a:latin typeface="Helvetica Neue"/>
                <a:ea typeface="Helvetica Neue"/>
                <a:cs typeface="Helvetica Neue"/>
              </a:defRPr>
            </a:pPr>
            <a:r>
              <a:t>Project setup, Firebase, authentication, profile capture, navigation, shared UI, and data models.</a:t>
            </a:r>
          </a:p>
        </p:txBody>
      </p:sp>
      <p:sp>
        <p:nvSpPr>
          <p:cNvPr id="9" name="Rounded-Rectangle-21-10">
            <a:extLst>
              <a:ext uri="{FF2B5EF4-FFF2-40B4-BE49-F238E27FC236}">
                <a16:creationId xmlns:a16="http://schemas.microsoft.com/office/drawing/2014/main" id="{B6037E00-B10F-4CF3-BD3C-1CF654CF6016}"/>
              </a:ext>
            </a:extLst>
          </p:cNvPr>
          <p:cNvSpPr>
            <a:spLocks noGrp="1"/>
          </p:cNvSpPr>
          <p:nvPr/>
        </p:nvSpPr>
        <p:spPr>
          <a:xfrm>
            <a:off x="4308443" y="1401794"/>
            <a:ext cx="3568732" cy="3619500"/>
          </a:xfrm>
          <a:prstGeom prst="roundRect">
            <a:avLst>
              <a:gd name="adj" fmla="val 2135"/>
            </a:avLst>
          </a:prstGeom>
          <a:solidFill>
            <a:srgbClr val="F2F2F2"/>
          </a:solidFill>
        </p:spPr>
      </p:sp>
      <p:sp>
        <p:nvSpPr>
          <p:cNvPr id="10" name="Content-Placeholder-8-11">
            <a:extLst>
              <a:ext uri="{FF2B5EF4-FFF2-40B4-BE49-F238E27FC236}">
                <a16:creationId xmlns:a16="http://schemas.microsoft.com/office/drawing/2014/main" id="{44F1F896-44CB-4CC7-9F01-295E81D9C10C}"/>
              </a:ext>
            </a:extLst>
          </p:cNvPr>
          <p:cNvSpPr>
            <a:spLocks noGrp="1"/>
          </p:cNvSpPr>
          <p:nvPr/>
        </p:nvSpPr>
        <p:spPr>
          <a:xfrm>
            <a:off x="4618196" y="1806797"/>
            <a:ext cx="2949321" cy="2566797"/>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University discovery</a:t>
            </a:r>
          </a:p>
          <a:p>
            <a:pPr algn="l">
              <a:defRPr sz="1600">
                <a:solidFill>
                  <a:srgbClr val="000000"/>
                </a:solidFill>
                <a:latin typeface="Helvetica Neue"/>
                <a:ea typeface="Helvetica Neue"/>
                <a:cs typeface="Helvetica Neue"/>
              </a:defRPr>
            </a:pPr>
            <a:r>
              <a:t>Explore, programs, costs, filters, recommendations, and AI eligibility results.</a:t>
            </a:r>
          </a:p>
        </p:txBody>
      </p:sp>
      <p:sp>
        <p:nvSpPr>
          <p:cNvPr id="11" name="Rounded-Rectangle-23-12">
            <a:extLst>
              <a:ext uri="{FF2B5EF4-FFF2-40B4-BE49-F238E27FC236}">
                <a16:creationId xmlns:a16="http://schemas.microsoft.com/office/drawing/2014/main" id="{C44DF03D-4A64-42E1-B52B-9B9F80354D73}"/>
              </a:ext>
            </a:extLst>
          </p:cNvPr>
          <p:cNvSpPr>
            <a:spLocks noGrp="1"/>
          </p:cNvSpPr>
          <p:nvPr/>
        </p:nvSpPr>
        <p:spPr>
          <a:xfrm>
            <a:off x="8237506" y="1401794"/>
            <a:ext cx="3568732" cy="3619500"/>
          </a:xfrm>
          <a:prstGeom prst="roundRect">
            <a:avLst>
              <a:gd name="adj" fmla="val 2135"/>
            </a:avLst>
          </a:prstGeom>
          <a:solidFill>
            <a:srgbClr val="F2F2F2"/>
          </a:solidFill>
        </p:spPr>
      </p:sp>
      <p:sp>
        <p:nvSpPr>
          <p:cNvPr id="12" name="Content-Placeholder-8-13">
            <a:extLst>
              <a:ext uri="{FF2B5EF4-FFF2-40B4-BE49-F238E27FC236}">
                <a16:creationId xmlns:a16="http://schemas.microsoft.com/office/drawing/2014/main" id="{D3C51F38-C038-4305-89EB-2BD598CE5772}"/>
              </a:ext>
            </a:extLst>
          </p:cNvPr>
          <p:cNvSpPr>
            <a:spLocks noGrp="1"/>
          </p:cNvSpPr>
          <p:nvPr/>
        </p:nvSpPr>
        <p:spPr>
          <a:xfrm>
            <a:off x="8547259" y="1806797"/>
            <a:ext cx="2949321" cy="2566797"/>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Funding and roadmap</a:t>
            </a:r>
          </a:p>
          <a:p>
            <a:pPr algn="l">
              <a:defRPr sz="1600">
                <a:solidFill>
                  <a:srgbClr val="000000"/>
                </a:solidFill>
                <a:latin typeface="Helvetica Neue"/>
                <a:ea typeface="Helvetica Neue"/>
                <a:cs typeface="Helvetica Neue"/>
              </a:defRPr>
            </a:pPr>
            <a:r>
              <a:t>Scholarships, favourites, date rollover, reminders, country roadmap, and progress.</a:t>
            </a:r>
          </a:p>
        </p:txBody>
      </p:sp>
      <p:sp>
        <p:nvSpPr>
          <p:cNvPr id="13" name="Text-Placeholder-16-14">
            <a:extLst>
              <a:ext uri="{FF2B5EF4-FFF2-40B4-BE49-F238E27FC236}">
                <a16:creationId xmlns:a16="http://schemas.microsoft.com/office/drawing/2014/main" id="{33BA30A3-E61D-4597-BCD2-96F2AECE151C}"/>
              </a:ext>
            </a:extLst>
          </p:cNvPr>
          <p:cNvSpPr>
            <a:spLocks noGrp="1"/>
          </p:cNvSpPr>
          <p:nvPr/>
        </p:nvSpPr>
        <p:spPr>
          <a:xfrm>
            <a:off x="4251770" y="5602414"/>
            <a:ext cx="2595944" cy="391954"/>
          </a:xfrm>
          <a:prstGeom prst="rect">
            <a:avLst/>
          </a:prstGeom>
        </p:spPr>
        <p:txBody>
          <a:bodyPr lIns="91440" tIns="45720" rIns="91440" bIns="45720">
            <a:noAutofit/>
          </a:bodyPr>
          <a:lstStyle/>
          <a:p>
            <a:pPr algn="l">
              <a:defRPr sz="2400">
                <a:solidFill>
                  <a:srgbClr val="000000"/>
                </a:solidFill>
                <a:latin typeface="Helvetica Neue"/>
                <a:ea typeface="Helvetica Neue"/>
                <a:cs typeface="Helvetica Neue"/>
              </a:defRPr>
            </a:pPr>
            <a:r>
              <a:t>SPRINT 1</a:t>
            </a:r>
          </a:p>
        </p:txBody>
      </p:sp>
      <p:sp>
        <p:nvSpPr>
          <p:cNvPr id="14" name="Text-Placeholder-16-15">
            <a:extLst>
              <a:ext uri="{FF2B5EF4-FFF2-40B4-BE49-F238E27FC236}">
                <a16:creationId xmlns:a16="http://schemas.microsoft.com/office/drawing/2014/main" id="{FDBB3BEC-37E3-4072-AFBE-BF9C5D03CF75}"/>
              </a:ext>
            </a:extLst>
          </p:cNvPr>
          <p:cNvSpPr>
            <a:spLocks noGrp="1"/>
          </p:cNvSpPr>
          <p:nvPr/>
        </p:nvSpPr>
        <p:spPr>
          <a:xfrm>
            <a:off x="390906" y="5602414"/>
            <a:ext cx="2595944" cy="391954"/>
          </a:xfrm>
          <a:prstGeom prst="rect">
            <a:avLst/>
          </a:prstGeom>
        </p:spPr>
        <p:txBody>
          <a:bodyPr lIns="91440" tIns="45720" rIns="91440" bIns="45720">
            <a:noAutofit/>
          </a:bodyPr>
          <a:lstStyle/>
          <a:p>
            <a:pPr algn="l">
              <a:defRPr sz="2400">
                <a:solidFill>
                  <a:srgbClr val="000000"/>
                </a:solidFill>
                <a:latin typeface="Helvetica Neue"/>
                <a:ea typeface="Helvetica Neue"/>
                <a:cs typeface="Helvetica Neue"/>
              </a:defRPr>
            </a:pPr>
            <a:r>
              <a:t>SPRINT 0</a:t>
            </a:r>
          </a:p>
        </p:txBody>
      </p:sp>
      <p:sp>
        <p:nvSpPr>
          <p:cNvPr id="15" name="Text-Placeholder-16-16">
            <a:extLst>
              <a:ext uri="{FF2B5EF4-FFF2-40B4-BE49-F238E27FC236}">
                <a16:creationId xmlns:a16="http://schemas.microsoft.com/office/drawing/2014/main" id="{7B2E1427-7C52-485C-824C-4CCEAD0A2764}"/>
              </a:ext>
            </a:extLst>
          </p:cNvPr>
          <p:cNvSpPr>
            <a:spLocks noGrp="1"/>
          </p:cNvSpPr>
          <p:nvPr/>
        </p:nvSpPr>
        <p:spPr>
          <a:xfrm>
            <a:off x="8225409" y="5602414"/>
            <a:ext cx="2595944" cy="391954"/>
          </a:xfrm>
          <a:prstGeom prst="rect">
            <a:avLst/>
          </a:prstGeom>
        </p:spPr>
        <p:txBody>
          <a:bodyPr lIns="91440" tIns="45720" rIns="91440" bIns="45720">
            <a:noAutofit/>
          </a:bodyPr>
          <a:lstStyle/>
          <a:p>
            <a:pPr algn="l">
              <a:defRPr sz="2400">
                <a:solidFill>
                  <a:srgbClr val="000000"/>
                </a:solidFill>
                <a:latin typeface="Helvetica Neue"/>
                <a:ea typeface="Helvetica Neue"/>
                <a:cs typeface="Helvetica Neue"/>
              </a:defRPr>
            </a:pPr>
            <a:r>
              <a:t>SPRINT 2</a:t>
            </a:r>
          </a:p>
        </p:txBody>
      </p:sp>
    </p:spTree>
    <p:extLst>
      <p:ext uri="{BB962C8B-B14F-4D97-AF65-F5344CB8AC3E}">
        <p14:creationId xmlns:p14="http://schemas.microsoft.com/office/powerpoint/2010/main" val="1317167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Number-Placeholder-3-2">
            <a:extLst>
              <a:ext uri="{FF2B5EF4-FFF2-40B4-BE49-F238E27FC236}">
                <a16:creationId xmlns:a16="http://schemas.microsoft.com/office/drawing/2014/main" id="{7C8C6BA4-17F7-46D5-8DD2-8CCDD4D4962A}"/>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12</a:t>
            </a:r>
          </a:p>
        </p:txBody>
      </p:sp>
      <p:sp>
        <p:nvSpPr>
          <p:cNvPr id="2" name="Title-10-3">
            <a:extLst>
              <a:ext uri="{FF2B5EF4-FFF2-40B4-BE49-F238E27FC236}">
                <a16:creationId xmlns:a16="http://schemas.microsoft.com/office/drawing/2014/main" id="{D0EEDDB9-AC24-47E4-BD6A-695031E2DC16}"/>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Sprint backlog summary · preparation to integration</a:t>
            </a:r>
          </a:p>
        </p:txBody>
      </p:sp>
      <p:cxnSp>
        <p:nvCxnSpPr>
          <p:cNvPr id="18" name="Google-Shape-2259-p159-4"/>
          <p:cNvCxnSpPr/>
          <p:nvPr/>
        </p:nvCxnSpPr>
        <p:spPr>
          <a:xfrm>
            <a:off x="337757" y="5341620"/>
            <a:ext cx="12245435" cy="286"/>
          </a:xfrm>
          <a:prstGeom prst="straightConnector1">
            <a:avLst/>
          </a:prstGeom>
          <a:ln w="9525">
            <a:solidFill>
              <a:srgbClr val="000000"/>
            </a:solidFill>
            <a:prstDash val="solid"/>
          </a:ln>
        </p:spPr>
      </p:cxnSp>
      <p:sp>
        <p:nvSpPr>
          <p:cNvPr id="4" name="Google-Shape-2260-p159-5">
            <a:extLst>
              <a:ext uri="{FF2B5EF4-FFF2-40B4-BE49-F238E27FC236}">
                <a16:creationId xmlns:a16="http://schemas.microsoft.com/office/drawing/2014/main" id="{A13AFFF1-8CA2-42E8-995B-5498F6D2EA8F}"/>
              </a:ext>
            </a:extLst>
          </p:cNvPr>
          <p:cNvSpPr>
            <a:spLocks noGrp="1"/>
          </p:cNvSpPr>
          <p:nvPr/>
        </p:nvSpPr>
        <p:spPr>
          <a:xfrm>
            <a:off x="337757" y="5288089"/>
            <a:ext cx="107061" cy="107061"/>
          </a:xfrm>
          <a:prstGeom prst="ellipse">
            <a:avLst/>
          </a:prstGeom>
          <a:solidFill>
            <a:srgbClr val="000000"/>
          </a:solidFill>
        </p:spPr>
      </p:sp>
      <p:sp>
        <p:nvSpPr>
          <p:cNvPr id="5" name="Google-Shape-2261-p159-6">
            <a:extLst>
              <a:ext uri="{FF2B5EF4-FFF2-40B4-BE49-F238E27FC236}">
                <a16:creationId xmlns:a16="http://schemas.microsoft.com/office/drawing/2014/main" id="{3865AFF5-6004-4BDC-928A-9D4C37473C54}"/>
              </a:ext>
            </a:extLst>
          </p:cNvPr>
          <p:cNvSpPr>
            <a:spLocks noGrp="1"/>
          </p:cNvSpPr>
          <p:nvPr/>
        </p:nvSpPr>
        <p:spPr>
          <a:xfrm>
            <a:off x="4251770" y="5288089"/>
            <a:ext cx="107061" cy="107061"/>
          </a:xfrm>
          <a:prstGeom prst="ellipse">
            <a:avLst/>
          </a:prstGeom>
          <a:solidFill>
            <a:srgbClr val="000000"/>
          </a:solidFill>
        </p:spPr>
      </p:sp>
      <p:sp>
        <p:nvSpPr>
          <p:cNvPr id="6" name="Google-Shape-2262-p159-7">
            <a:extLst>
              <a:ext uri="{FF2B5EF4-FFF2-40B4-BE49-F238E27FC236}">
                <a16:creationId xmlns:a16="http://schemas.microsoft.com/office/drawing/2014/main" id="{BA290645-683E-462E-8264-654F3E84CA16}"/>
              </a:ext>
            </a:extLst>
          </p:cNvPr>
          <p:cNvSpPr>
            <a:spLocks noGrp="1"/>
          </p:cNvSpPr>
          <p:nvPr/>
        </p:nvSpPr>
        <p:spPr>
          <a:xfrm>
            <a:off x="8176070" y="5288089"/>
            <a:ext cx="107061" cy="107061"/>
          </a:xfrm>
          <a:prstGeom prst="ellipse">
            <a:avLst/>
          </a:prstGeom>
          <a:solidFill>
            <a:srgbClr val="000000"/>
          </a:solidFill>
        </p:spPr>
      </p:sp>
      <p:sp>
        <p:nvSpPr>
          <p:cNvPr id="7" name="Rounded-Rectangle-19-8">
            <a:extLst>
              <a:ext uri="{FF2B5EF4-FFF2-40B4-BE49-F238E27FC236}">
                <a16:creationId xmlns:a16="http://schemas.microsoft.com/office/drawing/2014/main" id="{BDF22C0E-2AF9-400B-A7B7-4A8115FB696A}"/>
              </a:ext>
            </a:extLst>
          </p:cNvPr>
          <p:cNvSpPr>
            <a:spLocks noGrp="1"/>
          </p:cNvSpPr>
          <p:nvPr/>
        </p:nvSpPr>
        <p:spPr>
          <a:xfrm>
            <a:off x="393668" y="1401794"/>
            <a:ext cx="3568732" cy="3619500"/>
          </a:xfrm>
          <a:prstGeom prst="roundRect">
            <a:avLst>
              <a:gd name="adj" fmla="val 2135"/>
            </a:avLst>
          </a:prstGeom>
          <a:solidFill>
            <a:srgbClr val="F2F2F2"/>
          </a:solidFill>
        </p:spPr>
      </p:sp>
      <p:sp>
        <p:nvSpPr>
          <p:cNvPr id="8" name="Content-Placeholder-8-9">
            <a:extLst>
              <a:ext uri="{FF2B5EF4-FFF2-40B4-BE49-F238E27FC236}">
                <a16:creationId xmlns:a16="http://schemas.microsoft.com/office/drawing/2014/main" id="{637E657F-3F5C-47B6-8B75-1B3DEDEC72C2}"/>
              </a:ext>
            </a:extLst>
          </p:cNvPr>
          <p:cNvSpPr>
            <a:spLocks noGrp="1"/>
          </p:cNvSpPr>
          <p:nvPr/>
        </p:nvSpPr>
        <p:spPr>
          <a:xfrm>
            <a:off x="703421" y="1806797"/>
            <a:ext cx="2949321" cy="2566797"/>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Test preparation</a:t>
            </a:r>
          </a:p>
          <a:p>
            <a:pPr algn="l">
              <a:defRPr sz="1600">
                <a:solidFill>
                  <a:srgbClr val="000000"/>
                </a:solidFill>
                <a:latin typeface="Helvetica Neue"/>
                <a:ea typeface="Helvetica Neue"/>
                <a:cs typeface="Helvetica Neue"/>
              </a:defRPr>
            </a:pPr>
            <a:r>
              <a:t>IELTS, PTE, SAT, English Foundation grammar and vocabulary, mock tests, and progress.</a:t>
            </a:r>
          </a:p>
        </p:txBody>
      </p:sp>
      <p:sp>
        <p:nvSpPr>
          <p:cNvPr id="9" name="Rounded-Rectangle-21-10">
            <a:extLst>
              <a:ext uri="{FF2B5EF4-FFF2-40B4-BE49-F238E27FC236}">
                <a16:creationId xmlns:a16="http://schemas.microsoft.com/office/drawing/2014/main" id="{D3EE1854-532B-4ABC-82B9-A8DD753BE9B8}"/>
              </a:ext>
            </a:extLst>
          </p:cNvPr>
          <p:cNvSpPr>
            <a:spLocks noGrp="1"/>
          </p:cNvSpPr>
          <p:nvPr/>
        </p:nvSpPr>
        <p:spPr>
          <a:xfrm>
            <a:off x="4308443" y="1401794"/>
            <a:ext cx="3568732" cy="3619500"/>
          </a:xfrm>
          <a:prstGeom prst="roundRect">
            <a:avLst>
              <a:gd name="adj" fmla="val 2135"/>
            </a:avLst>
          </a:prstGeom>
          <a:solidFill>
            <a:srgbClr val="F2F2F2"/>
          </a:solidFill>
        </p:spPr>
      </p:sp>
      <p:sp>
        <p:nvSpPr>
          <p:cNvPr id="10" name="Content-Placeholder-8-11">
            <a:extLst>
              <a:ext uri="{FF2B5EF4-FFF2-40B4-BE49-F238E27FC236}">
                <a16:creationId xmlns:a16="http://schemas.microsoft.com/office/drawing/2014/main" id="{37BEF9EE-CB97-450F-A2B0-9D8416AC3639}"/>
              </a:ext>
            </a:extLst>
          </p:cNvPr>
          <p:cNvSpPr>
            <a:spLocks noGrp="1"/>
          </p:cNvSpPr>
          <p:nvPr/>
        </p:nvSpPr>
        <p:spPr>
          <a:xfrm>
            <a:off x="4618196" y="1806797"/>
            <a:ext cx="2949321" cy="2566797"/>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AI visa interview</a:t>
            </a:r>
          </a:p>
          <a:p>
            <a:pPr algn="l">
              <a:defRPr sz="1600">
                <a:solidFill>
                  <a:srgbClr val="000000"/>
                </a:solidFill>
                <a:latin typeface="Helvetica Neue"/>
                <a:ea typeface="Helvetica Neue"/>
                <a:cs typeface="Helvetica Neue"/>
              </a:defRPr>
            </a:pPr>
            <a:r>
              <a:t>Question engine, SpeechRecognizer, evaluation, adaptive flow, coaching, and reports.</a:t>
            </a:r>
          </a:p>
        </p:txBody>
      </p:sp>
      <p:sp>
        <p:nvSpPr>
          <p:cNvPr id="11" name="Rounded-Rectangle-23-12">
            <a:extLst>
              <a:ext uri="{FF2B5EF4-FFF2-40B4-BE49-F238E27FC236}">
                <a16:creationId xmlns:a16="http://schemas.microsoft.com/office/drawing/2014/main" id="{586EAC03-1488-47A2-BE8D-E5CB1D36ECCC}"/>
              </a:ext>
            </a:extLst>
          </p:cNvPr>
          <p:cNvSpPr>
            <a:spLocks noGrp="1"/>
          </p:cNvSpPr>
          <p:nvPr/>
        </p:nvSpPr>
        <p:spPr>
          <a:xfrm>
            <a:off x="8237506" y="1401794"/>
            <a:ext cx="3568732" cy="3619500"/>
          </a:xfrm>
          <a:prstGeom prst="roundRect">
            <a:avLst>
              <a:gd name="adj" fmla="val 2135"/>
            </a:avLst>
          </a:prstGeom>
          <a:solidFill>
            <a:srgbClr val="F2F2F2"/>
          </a:solidFill>
        </p:spPr>
      </p:sp>
      <p:sp>
        <p:nvSpPr>
          <p:cNvPr id="12" name="Content-Placeholder-8-13">
            <a:extLst>
              <a:ext uri="{FF2B5EF4-FFF2-40B4-BE49-F238E27FC236}">
                <a16:creationId xmlns:a16="http://schemas.microsoft.com/office/drawing/2014/main" id="{F7BA0776-C119-48F3-96B7-EFD708C4B410}"/>
              </a:ext>
            </a:extLst>
          </p:cNvPr>
          <p:cNvSpPr>
            <a:spLocks noGrp="1"/>
          </p:cNvSpPr>
          <p:nvPr/>
        </p:nvSpPr>
        <p:spPr>
          <a:xfrm>
            <a:off x="8547259" y="1806797"/>
            <a:ext cx="2949321" cy="2566797"/>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Guidance and release</a:t>
            </a:r>
          </a:p>
          <a:p>
            <a:pPr algn="l">
              <a:defRPr sz="1600">
                <a:solidFill>
                  <a:srgbClr val="000000"/>
                </a:solidFill>
                <a:latin typeface="Helvetica Neue"/>
                <a:ea typeface="Helvetica Neue"/>
                <a:cs typeface="Helvetica Neue"/>
              </a:defRPr>
            </a:pPr>
            <a:r>
              <a:t>SOP, consultant chat/call, community, chatbot, integration, quality checks, and demo packaging.</a:t>
            </a:r>
          </a:p>
        </p:txBody>
      </p:sp>
      <p:sp>
        <p:nvSpPr>
          <p:cNvPr id="13" name="Text-Placeholder-16-14">
            <a:extLst>
              <a:ext uri="{FF2B5EF4-FFF2-40B4-BE49-F238E27FC236}">
                <a16:creationId xmlns:a16="http://schemas.microsoft.com/office/drawing/2014/main" id="{D000D598-6C69-4362-88D6-101C283EFB10}"/>
              </a:ext>
            </a:extLst>
          </p:cNvPr>
          <p:cNvSpPr>
            <a:spLocks noGrp="1"/>
          </p:cNvSpPr>
          <p:nvPr/>
        </p:nvSpPr>
        <p:spPr>
          <a:xfrm>
            <a:off x="4251770" y="5602414"/>
            <a:ext cx="2595944" cy="391954"/>
          </a:xfrm>
          <a:prstGeom prst="rect">
            <a:avLst/>
          </a:prstGeom>
        </p:spPr>
        <p:txBody>
          <a:bodyPr lIns="91440" tIns="45720" rIns="91440" bIns="45720">
            <a:noAutofit/>
          </a:bodyPr>
          <a:lstStyle/>
          <a:p>
            <a:pPr algn="l">
              <a:defRPr sz="2400">
                <a:solidFill>
                  <a:srgbClr val="000000"/>
                </a:solidFill>
                <a:latin typeface="Helvetica Neue"/>
                <a:ea typeface="Helvetica Neue"/>
                <a:cs typeface="Helvetica Neue"/>
              </a:defRPr>
            </a:pPr>
            <a:r>
              <a:t>SPRINT 4</a:t>
            </a:r>
          </a:p>
        </p:txBody>
      </p:sp>
      <p:sp>
        <p:nvSpPr>
          <p:cNvPr id="14" name="Text-Placeholder-16-15">
            <a:extLst>
              <a:ext uri="{FF2B5EF4-FFF2-40B4-BE49-F238E27FC236}">
                <a16:creationId xmlns:a16="http://schemas.microsoft.com/office/drawing/2014/main" id="{EACF4574-CB83-421C-A0B9-9B6E4458CB84}"/>
              </a:ext>
            </a:extLst>
          </p:cNvPr>
          <p:cNvSpPr>
            <a:spLocks noGrp="1"/>
          </p:cNvSpPr>
          <p:nvPr/>
        </p:nvSpPr>
        <p:spPr>
          <a:xfrm>
            <a:off x="390906" y="5602414"/>
            <a:ext cx="2595944" cy="391954"/>
          </a:xfrm>
          <a:prstGeom prst="rect">
            <a:avLst/>
          </a:prstGeom>
        </p:spPr>
        <p:txBody>
          <a:bodyPr lIns="91440" tIns="45720" rIns="91440" bIns="45720">
            <a:noAutofit/>
          </a:bodyPr>
          <a:lstStyle/>
          <a:p>
            <a:pPr algn="l">
              <a:defRPr sz="2400">
                <a:solidFill>
                  <a:srgbClr val="000000"/>
                </a:solidFill>
                <a:latin typeface="Helvetica Neue"/>
                <a:ea typeface="Helvetica Neue"/>
                <a:cs typeface="Helvetica Neue"/>
              </a:defRPr>
            </a:pPr>
            <a:r>
              <a:t>SPRINT 3</a:t>
            </a:r>
          </a:p>
        </p:txBody>
      </p:sp>
      <p:sp>
        <p:nvSpPr>
          <p:cNvPr id="15" name="Text-Placeholder-16-16">
            <a:extLst>
              <a:ext uri="{FF2B5EF4-FFF2-40B4-BE49-F238E27FC236}">
                <a16:creationId xmlns:a16="http://schemas.microsoft.com/office/drawing/2014/main" id="{0A0C3086-3B9C-4D30-9D25-9D9B3B2B6112}"/>
              </a:ext>
            </a:extLst>
          </p:cNvPr>
          <p:cNvSpPr>
            <a:spLocks noGrp="1"/>
          </p:cNvSpPr>
          <p:nvPr/>
        </p:nvSpPr>
        <p:spPr>
          <a:xfrm>
            <a:off x="8225409" y="5602414"/>
            <a:ext cx="2595944" cy="391954"/>
          </a:xfrm>
          <a:prstGeom prst="rect">
            <a:avLst/>
          </a:prstGeom>
        </p:spPr>
        <p:txBody>
          <a:bodyPr lIns="91440" tIns="45720" rIns="91440" bIns="45720">
            <a:noAutofit/>
          </a:bodyPr>
          <a:lstStyle/>
          <a:p>
            <a:pPr algn="l">
              <a:defRPr sz="2400">
                <a:solidFill>
                  <a:srgbClr val="000000"/>
                </a:solidFill>
                <a:latin typeface="Helvetica Neue"/>
                <a:ea typeface="Helvetica Neue"/>
                <a:cs typeface="Helvetica Neue"/>
              </a:defRPr>
            </a:pPr>
            <a:r>
              <a:t>SPRINT 5</a:t>
            </a:r>
          </a:p>
        </p:txBody>
      </p:sp>
    </p:spTree>
    <p:extLst>
      <p:ext uri="{BB962C8B-B14F-4D97-AF65-F5344CB8AC3E}">
        <p14:creationId xmlns:p14="http://schemas.microsoft.com/office/powerpoint/2010/main" val="760694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Number-Placeholder-1-2">
            <a:extLst>
              <a:ext uri="{FF2B5EF4-FFF2-40B4-BE49-F238E27FC236}">
                <a16:creationId xmlns:a16="http://schemas.microsoft.com/office/drawing/2014/main" id="{E4EA7C39-0978-4045-9F27-6587A4B73C61}"/>
              </a:ext>
            </a:extLst>
          </p:cNvPr>
          <p:cNvSpPr>
            <a:spLocks noGrp="1"/>
          </p:cNvSpPr>
          <p:nvPr/>
        </p:nvSpPr>
        <p:spPr>
          <a:xfrm>
            <a:off x="11279219" y="6278594"/>
            <a:ext cx="519113"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13</a:t>
            </a:r>
          </a:p>
        </p:txBody>
      </p:sp>
      <p:sp>
        <p:nvSpPr>
          <p:cNvPr id="2" name="Title-2-3">
            <a:extLst>
              <a:ext uri="{FF2B5EF4-FFF2-40B4-BE49-F238E27FC236}">
                <a16:creationId xmlns:a16="http://schemas.microsoft.com/office/drawing/2014/main" id="{57891760-8845-4E90-AA4E-0305BF470787}"/>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Team accountability must be visible in Jira</a:t>
            </a:r>
          </a:p>
        </p:txBody>
      </p:sp>
      <p:sp>
        <p:nvSpPr>
          <p:cNvPr id="3" name="Content-Placeholder-9-4">
            <a:extLst>
              <a:ext uri="{FF2B5EF4-FFF2-40B4-BE49-F238E27FC236}">
                <a16:creationId xmlns:a16="http://schemas.microsoft.com/office/drawing/2014/main" id="{8F87C304-52FF-49C0-9BD4-FC907E83F833}"/>
              </a:ext>
            </a:extLst>
          </p:cNvPr>
          <p:cNvSpPr>
            <a:spLocks noGrp="1"/>
          </p:cNvSpPr>
          <p:nvPr/>
        </p:nvSpPr>
        <p:spPr>
          <a:xfrm>
            <a:off x="393668" y="2031968"/>
            <a:ext cx="5537168" cy="1643063"/>
          </a:xfrm>
          <a:prstGeom prst="rect">
            <a:avLst/>
          </a:prstGeom>
        </p:spPr>
        <p:txBody>
          <a:bodyPr lIns="91440" tIns="45720" rIns="91440" bIns="45720"/>
          <a:lstStyle/>
          <a:p>
            <a:pPr algn="l">
              <a:defRPr sz="2400">
                <a:solidFill>
                  <a:srgbClr val="000000"/>
                </a:solidFill>
                <a:latin typeface="Helvetica Neue"/>
                <a:ea typeface="Helvetica Neue"/>
                <a:cs typeface="Helvetica Neue"/>
              </a:defRPr>
            </a:pPr>
            <a:r>
              <a:t>Muhammad Zohaib</a:t>
            </a:r>
          </a:p>
          <a:p>
            <a:pPr algn="l">
              <a:defRPr sz="2400">
                <a:solidFill>
                  <a:srgbClr val="000000"/>
                </a:solidFill>
                <a:latin typeface="Helvetica Neue"/>
                <a:ea typeface="Helvetica Neue"/>
                <a:cs typeface="Helvetica Neue"/>
              </a:defRPr>
            </a:pPr>
            <a:r>
              <a:t>Open assigned epic/story, acceptance criteria, sprint, status, and recent activity during the live Jira demo.</a:t>
            </a:r>
          </a:p>
        </p:txBody>
      </p:sp>
      <p:sp>
        <p:nvSpPr>
          <p:cNvPr id="4" name="Content-Placeholder-10-5">
            <a:extLst>
              <a:ext uri="{FF2B5EF4-FFF2-40B4-BE49-F238E27FC236}">
                <a16:creationId xmlns:a16="http://schemas.microsoft.com/office/drawing/2014/main" id="{6051D612-FB6A-4D4E-969F-9CBEA545AB22}"/>
              </a:ext>
            </a:extLst>
          </p:cNvPr>
          <p:cNvSpPr>
            <a:spLocks noGrp="1"/>
          </p:cNvSpPr>
          <p:nvPr/>
        </p:nvSpPr>
        <p:spPr>
          <a:xfrm>
            <a:off x="6256592" y="2031968"/>
            <a:ext cx="5537168" cy="1643063"/>
          </a:xfrm>
          <a:prstGeom prst="rect">
            <a:avLst/>
          </a:prstGeom>
        </p:spPr>
        <p:txBody>
          <a:bodyPr lIns="91440" tIns="45720" rIns="91440" bIns="45720"/>
          <a:lstStyle/>
          <a:p>
            <a:pPr algn="l">
              <a:defRPr sz="2400">
                <a:solidFill>
                  <a:srgbClr val="000000"/>
                </a:solidFill>
                <a:latin typeface="Helvetica Neue"/>
                <a:ea typeface="Helvetica Neue"/>
                <a:cs typeface="Helvetica Neue"/>
              </a:defRPr>
            </a:pPr>
            <a:r>
              <a:t>Muhammad Huzaifa</a:t>
            </a:r>
          </a:p>
          <a:p>
            <a:pPr algn="l">
              <a:defRPr sz="2400">
                <a:solidFill>
                  <a:srgbClr val="000000"/>
                </a:solidFill>
                <a:latin typeface="Helvetica Neue"/>
                <a:ea typeface="Helvetica Neue"/>
                <a:cs typeface="Helvetica Neue"/>
              </a:defRPr>
            </a:pPr>
            <a:r>
              <a:t>Open assigned epic/story, acceptance criteria, sprint, status, and recent activity during the live Jira demo.</a:t>
            </a:r>
          </a:p>
        </p:txBody>
      </p:sp>
      <p:sp>
        <p:nvSpPr>
          <p:cNvPr id="5" name="Content-Placeholder-9-6">
            <a:extLst>
              <a:ext uri="{FF2B5EF4-FFF2-40B4-BE49-F238E27FC236}">
                <a16:creationId xmlns:a16="http://schemas.microsoft.com/office/drawing/2014/main" id="{18CDE8DD-E6AD-4529-99CB-C67A73E46483}"/>
              </a:ext>
            </a:extLst>
          </p:cNvPr>
          <p:cNvSpPr>
            <a:spLocks noGrp="1"/>
          </p:cNvSpPr>
          <p:nvPr/>
        </p:nvSpPr>
        <p:spPr>
          <a:xfrm>
            <a:off x="393668" y="4016978"/>
            <a:ext cx="5537168" cy="1643158"/>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Muhammad Sharafat Ali</a:t>
            </a:r>
          </a:p>
          <a:p>
            <a:pPr algn="l">
              <a:defRPr sz="2400">
                <a:solidFill>
                  <a:srgbClr val="000000"/>
                </a:solidFill>
                <a:latin typeface="Helvetica Neue"/>
                <a:ea typeface="Helvetica Neue"/>
                <a:cs typeface="Helvetica Neue"/>
              </a:defRPr>
            </a:pPr>
            <a:r>
              <a:t>Open assigned epic/story, acceptance criteria, sprint, status, and recent activity during the live Jira demo.</a:t>
            </a:r>
          </a:p>
        </p:txBody>
      </p:sp>
      <p:sp>
        <p:nvSpPr>
          <p:cNvPr id="6" name="Content-Placeholder-10-7">
            <a:extLst>
              <a:ext uri="{FF2B5EF4-FFF2-40B4-BE49-F238E27FC236}">
                <a16:creationId xmlns:a16="http://schemas.microsoft.com/office/drawing/2014/main" id="{027FE151-2644-4D26-A8F0-E2A8E9D894EE}"/>
              </a:ext>
            </a:extLst>
          </p:cNvPr>
          <p:cNvSpPr>
            <a:spLocks noGrp="1"/>
          </p:cNvSpPr>
          <p:nvPr/>
        </p:nvSpPr>
        <p:spPr>
          <a:xfrm>
            <a:off x="6256592" y="4016978"/>
            <a:ext cx="5537168" cy="1643158"/>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Shahryar Nadeem</a:t>
            </a:r>
          </a:p>
          <a:p>
            <a:pPr algn="l">
              <a:defRPr sz="2400">
                <a:solidFill>
                  <a:srgbClr val="000000"/>
                </a:solidFill>
                <a:latin typeface="Helvetica Neue"/>
                <a:ea typeface="Helvetica Neue"/>
                <a:cs typeface="Helvetica Neue"/>
              </a:defRPr>
            </a:pPr>
            <a:r>
              <a:t>Open assigned epic/story, acceptance criteria, sprint, status, and recent activity during the live Jira demo.</a:t>
            </a:r>
          </a:p>
        </p:txBody>
      </p:sp>
    </p:spTree>
    <p:extLst>
      <p:ext uri="{BB962C8B-B14F-4D97-AF65-F5344CB8AC3E}">
        <p14:creationId xmlns:p14="http://schemas.microsoft.com/office/powerpoint/2010/main" val="208586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Shape-532-p58-2">
            <a:extLst>
              <a:ext uri="{FF2B5EF4-FFF2-40B4-BE49-F238E27FC236}">
                <a16:creationId xmlns:a16="http://schemas.microsoft.com/office/drawing/2014/main" id="{35EFB927-685B-4B20-BA0E-E7039A518372}"/>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14</a:t>
            </a:r>
          </a:p>
        </p:txBody>
      </p:sp>
      <p:sp>
        <p:nvSpPr>
          <p:cNvPr id="2" name="Google-Shape-533-p58-3">
            <a:extLst>
              <a:ext uri="{FF2B5EF4-FFF2-40B4-BE49-F238E27FC236}">
                <a16:creationId xmlns:a16="http://schemas.microsoft.com/office/drawing/2014/main" id="{70537378-C3EA-4C2D-A46C-BC9FF85D00DE}"/>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r>
              <a:t>First demo: project collaboration evidence</a:t>
            </a:r>
          </a:p>
        </p:txBody>
      </p:sp>
      <p:sp>
        <p:nvSpPr>
          <p:cNvPr id="3" name="Google-Shape-534-p58-4">
            <a:extLst>
              <a:ext uri="{FF2B5EF4-FFF2-40B4-BE49-F238E27FC236}">
                <a16:creationId xmlns:a16="http://schemas.microsoft.com/office/drawing/2014/main" id="{151CB9D8-1BB0-40B4-B0C8-975FC2DD02D2}"/>
              </a:ext>
            </a:extLst>
          </p:cNvPr>
          <p:cNvSpPr>
            <a:spLocks noGrp="1"/>
          </p:cNvSpPr>
          <p:nvPr/>
        </p:nvSpPr>
        <p:spPr>
          <a:xfrm>
            <a:off x="393668" y="3365468"/>
            <a:ext cx="3568732" cy="2628900"/>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t>Jira</a:t>
            </a:r>
          </a:p>
          <a:p>
            <a:pPr algn="l">
              <a:defRPr sz="2400">
                <a:solidFill>
                  <a:srgbClr val="000000"/>
                </a:solidFill>
                <a:latin typeface="Helvetica Neue"/>
                <a:ea typeface="Helvetica Neue"/>
                <a:cs typeface="Helvetica Neue"/>
              </a:defRPr>
            </a:pPr>
            <a:r>
              <a:t>Show epics → user stories → acceptance criteria.
Filter by sprint and assignee.
Open one completed story per member.</a:t>
            </a:r>
          </a:p>
        </p:txBody>
      </p:sp>
      <p:sp>
        <p:nvSpPr>
          <p:cNvPr id="4" name="Content-Placeholder-1-5">
            <a:extLst>
              <a:ext uri="{FF2B5EF4-FFF2-40B4-BE49-F238E27FC236}">
                <a16:creationId xmlns:a16="http://schemas.microsoft.com/office/drawing/2014/main" id="{AE44A01D-B469-4DA1-B969-07AE56BC7477}"/>
              </a:ext>
            </a:extLst>
          </p:cNvPr>
          <p:cNvSpPr>
            <a:spLocks noGrp="1"/>
          </p:cNvSpPr>
          <p:nvPr/>
        </p:nvSpPr>
        <p:spPr>
          <a:xfrm>
            <a:off x="8229600" y="3365468"/>
            <a:ext cx="3568732" cy="2628900"/>
          </a:xfrm>
          <a:prstGeom prst="rect">
            <a:avLst/>
          </a:prstGeom>
        </p:spPr>
        <p:txBody>
          <a:bodyPr lIns="91440" tIns="45720" rIns="91440" bIns="45720">
            <a:normAutofit fontScale="87689"/>
          </a:bodyPr>
          <a:lstStyle/>
          <a:p>
            <a:pPr algn="l">
              <a:defRPr sz="2400">
                <a:solidFill>
                  <a:srgbClr val="000000"/>
                </a:solidFill>
                <a:latin typeface="Helvetica Neue"/>
                <a:ea typeface="Helvetica Neue"/>
                <a:cs typeface="Helvetica Neue"/>
              </a:defRPr>
            </a:pPr>
            <a:r>
              <a:t>Team communication</a:t>
            </a:r>
          </a:p>
          <a:p>
            <a:pPr algn="l">
              <a:defRPr sz="2400">
                <a:solidFill>
                  <a:srgbClr val="000000"/>
                </a:solidFill>
                <a:latin typeface="Helvetica Neue"/>
                <a:ea typeface="Helvetica Neue"/>
                <a:cs typeface="Helvetica Neue"/>
              </a:defRPr>
            </a:pPr>
            <a:r>
              <a:t>Open Slack, Teams, or an approved alternative.
Show channels, decisions, file sharing, and coordination—not private content.</a:t>
            </a:r>
          </a:p>
        </p:txBody>
      </p:sp>
      <p:sp>
        <p:nvSpPr>
          <p:cNvPr id="5" name="Content-Placeholder-2-6">
            <a:extLst>
              <a:ext uri="{FF2B5EF4-FFF2-40B4-BE49-F238E27FC236}">
                <a16:creationId xmlns:a16="http://schemas.microsoft.com/office/drawing/2014/main" id="{2272DB2A-13FE-432B-AA56-99B6B212C1BC}"/>
              </a:ext>
            </a:extLst>
          </p:cNvPr>
          <p:cNvSpPr>
            <a:spLocks noGrp="1"/>
          </p:cNvSpPr>
          <p:nvPr/>
        </p:nvSpPr>
        <p:spPr>
          <a:xfrm>
            <a:off x="4311682" y="3365468"/>
            <a:ext cx="3568732" cy="2628900"/>
          </a:xfrm>
          <a:prstGeom prst="rect">
            <a:avLst/>
          </a:prstGeom>
        </p:spPr>
        <p:txBody>
          <a:bodyPr lIns="91440" tIns="45720" rIns="91440" bIns="45720">
            <a:normAutofit fontScale="77083"/>
          </a:bodyPr>
          <a:lstStyle/>
          <a:p>
            <a:pPr algn="l">
              <a:defRPr sz="2400">
                <a:solidFill>
                  <a:srgbClr val="000000"/>
                </a:solidFill>
                <a:latin typeface="Helvetica Neue"/>
                <a:ea typeface="Helvetica Neue"/>
                <a:cs typeface="Helvetica Neue"/>
              </a:defRPr>
            </a:pPr>
            <a:r>
              <a:t>GitHub</a:t>
            </a:r>
          </a:p>
          <a:p>
            <a:pPr algn="l">
              <a:defRPr sz="2400">
                <a:solidFill>
                  <a:srgbClr val="000000"/>
                </a:solidFill>
                <a:latin typeface="Helvetica Neue"/>
                <a:ea typeface="Helvetica Neue"/>
                <a:cs typeface="Helvetica Neue"/>
              </a:defRPr>
            </a:pPr>
            <a:r>
              <a:t>Open repository and commit history.
Show unique authors, meaningful messages, branches or pull requests.
Map commits to Jira work.</a:t>
            </a:r>
          </a:p>
        </p:txBody>
      </p:sp>
    </p:spTree>
    <p:extLst>
      <p:ext uri="{BB962C8B-B14F-4D97-AF65-F5344CB8AC3E}">
        <p14:creationId xmlns:p14="http://schemas.microsoft.com/office/powerpoint/2010/main" val="286412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Number-Placeholder-3-2">
            <a:extLst>
              <a:ext uri="{FF2B5EF4-FFF2-40B4-BE49-F238E27FC236}">
                <a16:creationId xmlns:a16="http://schemas.microsoft.com/office/drawing/2014/main" id="{DE1B65C1-9A50-431C-B5EC-FEF725B52D3C}"/>
              </a:ext>
            </a:extLst>
          </p:cNvPr>
          <p:cNvSpPr>
            <a:spLocks noGrp="1"/>
          </p:cNvSpPr>
          <p:nvPr/>
        </p:nvSpPr>
        <p:spPr>
          <a:xfrm>
            <a:off x="11279315" y="6279261"/>
            <a:ext cx="518922" cy="241268"/>
          </a:xfrm>
          <a:prstGeom prst="rect">
            <a:avLst/>
          </a:prstGeom>
        </p:spPr>
        <p:txBody>
          <a:bodyPr lIns="0" tIns="0" rIns="0" bIns="0" anchor="b"/>
          <a:lstStyle/>
          <a:p>
            <a:pPr algn="r">
              <a:defRPr sz="1000">
                <a:solidFill>
                  <a:srgbClr val="000000"/>
                </a:solidFill>
                <a:latin typeface="Helvetica Neue"/>
                <a:ea typeface="Helvetica Neue"/>
                <a:cs typeface="Helvetica Neue"/>
              </a:defRPr>
            </a:pPr>
            <a:r>
              <a:t>15</a:t>
            </a:r>
          </a:p>
        </p:txBody>
      </p:sp>
      <p:sp>
        <p:nvSpPr>
          <p:cNvPr id="2" name="Title-10-3">
            <a:extLst>
              <a:ext uri="{FF2B5EF4-FFF2-40B4-BE49-F238E27FC236}">
                <a16:creationId xmlns:a16="http://schemas.microsoft.com/office/drawing/2014/main" id="{BF2DBBCF-20C5-413F-8791-A892BBAED39C}"/>
              </a:ext>
            </a:extLst>
          </p:cNvPr>
          <p:cNvSpPr>
            <a:spLocks noGrp="1"/>
          </p:cNvSpPr>
          <p:nvPr/>
        </p:nvSpPr>
        <p:spPr>
          <a:xfrm>
            <a:off x="393668" y="344043"/>
            <a:ext cx="11404568" cy="1047464"/>
          </a:xfrm>
          <a:prstGeom prst="rect">
            <a:avLst/>
          </a:prstGeom>
        </p:spPr>
        <p:txBody>
          <a:bodyPr lIns="0" tIns="0" rIns="0" bIns="0" anchor="t">
            <a:normAutofit/>
          </a:bodyPr>
          <a:lstStyle/>
          <a:p>
            <a:pPr algn="l">
              <a:defRPr sz="2900">
                <a:solidFill>
                  <a:srgbClr val="000000"/>
                </a:solidFill>
                <a:latin typeface="Helvetica Neue"/>
                <a:ea typeface="Helvetica Neue"/>
                <a:cs typeface="Helvetica Neue"/>
              </a:defRPr>
            </a:pPr>
            <a:r>
              <a:t>Second demo: working product architecture</a:t>
            </a:r>
          </a:p>
        </p:txBody>
      </p:sp>
      <p:cxnSp>
        <p:nvCxnSpPr>
          <p:cNvPr id="15" name="Google-Shape-2259-p159-4"/>
          <p:cNvCxnSpPr/>
          <p:nvPr/>
        </p:nvCxnSpPr>
        <p:spPr>
          <a:xfrm>
            <a:off x="337757" y="3373755"/>
            <a:ext cx="12245435" cy="286"/>
          </a:xfrm>
          <a:prstGeom prst="straightConnector1">
            <a:avLst/>
          </a:prstGeom>
          <a:ln w="9525">
            <a:solidFill>
              <a:srgbClr val="000000"/>
            </a:solidFill>
            <a:prstDash val="solid"/>
          </a:ln>
        </p:spPr>
      </p:cxnSp>
      <p:sp>
        <p:nvSpPr>
          <p:cNvPr id="4" name="Google-Shape-2260-p159-5">
            <a:extLst>
              <a:ext uri="{FF2B5EF4-FFF2-40B4-BE49-F238E27FC236}">
                <a16:creationId xmlns:a16="http://schemas.microsoft.com/office/drawing/2014/main" id="{23FB88BE-F7E3-401D-9013-715CA5F6C07F}"/>
              </a:ext>
            </a:extLst>
          </p:cNvPr>
          <p:cNvSpPr>
            <a:spLocks noGrp="1"/>
          </p:cNvSpPr>
          <p:nvPr/>
        </p:nvSpPr>
        <p:spPr>
          <a:xfrm>
            <a:off x="337757" y="3320225"/>
            <a:ext cx="107061" cy="107061"/>
          </a:xfrm>
          <a:prstGeom prst="ellipse">
            <a:avLst/>
          </a:prstGeom>
          <a:solidFill>
            <a:srgbClr val="000000"/>
          </a:solidFill>
        </p:spPr>
      </p:sp>
      <p:sp>
        <p:nvSpPr>
          <p:cNvPr id="5" name="Google-Shape-2261-p159-6">
            <a:extLst>
              <a:ext uri="{FF2B5EF4-FFF2-40B4-BE49-F238E27FC236}">
                <a16:creationId xmlns:a16="http://schemas.microsoft.com/office/drawing/2014/main" id="{4823383C-31C9-4EC7-B994-03CE47B87338}"/>
              </a:ext>
            </a:extLst>
          </p:cNvPr>
          <p:cNvSpPr>
            <a:spLocks noGrp="1"/>
          </p:cNvSpPr>
          <p:nvPr/>
        </p:nvSpPr>
        <p:spPr>
          <a:xfrm>
            <a:off x="4251770" y="3320225"/>
            <a:ext cx="107061" cy="107061"/>
          </a:xfrm>
          <a:prstGeom prst="ellipse">
            <a:avLst/>
          </a:prstGeom>
          <a:solidFill>
            <a:srgbClr val="000000"/>
          </a:solidFill>
        </p:spPr>
      </p:sp>
      <p:sp>
        <p:nvSpPr>
          <p:cNvPr id="6" name="Google-Shape-2262-p159-7">
            <a:extLst>
              <a:ext uri="{FF2B5EF4-FFF2-40B4-BE49-F238E27FC236}">
                <a16:creationId xmlns:a16="http://schemas.microsoft.com/office/drawing/2014/main" id="{8DBC3580-2878-42F6-8858-B05CA9705832}"/>
              </a:ext>
            </a:extLst>
          </p:cNvPr>
          <p:cNvSpPr>
            <a:spLocks noGrp="1"/>
          </p:cNvSpPr>
          <p:nvPr/>
        </p:nvSpPr>
        <p:spPr>
          <a:xfrm>
            <a:off x="8176070" y="3320225"/>
            <a:ext cx="107061" cy="107061"/>
          </a:xfrm>
          <a:prstGeom prst="ellipse">
            <a:avLst/>
          </a:prstGeom>
          <a:solidFill>
            <a:srgbClr val="000000"/>
          </a:solidFill>
        </p:spPr>
      </p:sp>
      <p:sp>
        <p:nvSpPr>
          <p:cNvPr id="7" name="Content-Placeholder-15-8">
            <a:extLst>
              <a:ext uri="{FF2B5EF4-FFF2-40B4-BE49-F238E27FC236}">
                <a16:creationId xmlns:a16="http://schemas.microsoft.com/office/drawing/2014/main" id="{543A1C1D-DA1F-4C26-BF06-1B48349C2DE0}"/>
              </a:ext>
            </a:extLst>
          </p:cNvPr>
          <p:cNvSpPr>
            <a:spLocks noGrp="1"/>
          </p:cNvSpPr>
          <p:nvPr/>
        </p:nvSpPr>
        <p:spPr>
          <a:xfrm>
            <a:off x="393668" y="2843308"/>
            <a:ext cx="1612868" cy="262414"/>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CLIENT</a:t>
            </a:r>
          </a:p>
        </p:txBody>
      </p:sp>
      <p:sp>
        <p:nvSpPr>
          <p:cNvPr id="8" name="Content-Placeholder-15-9">
            <a:extLst>
              <a:ext uri="{FF2B5EF4-FFF2-40B4-BE49-F238E27FC236}">
                <a16:creationId xmlns:a16="http://schemas.microsoft.com/office/drawing/2014/main" id="{A81DB621-9278-46F4-AB89-8FFC5C247B68}"/>
              </a:ext>
            </a:extLst>
          </p:cNvPr>
          <p:cNvSpPr>
            <a:spLocks noGrp="1"/>
          </p:cNvSpPr>
          <p:nvPr/>
        </p:nvSpPr>
        <p:spPr>
          <a:xfrm>
            <a:off x="4294156" y="2843308"/>
            <a:ext cx="1612868" cy="262414"/>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CLOUD</a:t>
            </a:r>
          </a:p>
        </p:txBody>
      </p:sp>
      <p:sp>
        <p:nvSpPr>
          <p:cNvPr id="9" name="Content-Placeholder-15-10">
            <a:extLst>
              <a:ext uri="{FF2B5EF4-FFF2-40B4-BE49-F238E27FC236}">
                <a16:creationId xmlns:a16="http://schemas.microsoft.com/office/drawing/2014/main" id="{05CDA58F-CEE4-4A02-8B23-8F96CB2538FC}"/>
              </a:ext>
            </a:extLst>
          </p:cNvPr>
          <p:cNvSpPr>
            <a:spLocks noGrp="1"/>
          </p:cNvSpPr>
          <p:nvPr/>
        </p:nvSpPr>
        <p:spPr>
          <a:xfrm>
            <a:off x="8223218" y="2843308"/>
            <a:ext cx="1612868" cy="262414"/>
          </a:xfrm>
          <a:prstGeom prst="rect">
            <a:avLst/>
          </a:prstGeom>
        </p:spPr>
        <p:txBody>
          <a:bodyPr lIns="0" tIns="0" rIns="0" bIns="0">
            <a:noAutofit/>
          </a:bodyPr>
          <a:lstStyle/>
          <a:p>
            <a:pPr algn="l">
              <a:defRPr sz="1600">
                <a:solidFill>
                  <a:srgbClr val="000000"/>
                </a:solidFill>
                <a:latin typeface="Helvetica Neue"/>
                <a:ea typeface="Helvetica Neue"/>
                <a:cs typeface="Helvetica Neue"/>
              </a:defRPr>
            </a:pPr>
            <a:r>
              <a:t>INTELLIGENCE</a:t>
            </a:r>
          </a:p>
        </p:txBody>
      </p:sp>
      <p:sp>
        <p:nvSpPr>
          <p:cNvPr id="10" name="Text-Placeholder-16-11">
            <a:extLst>
              <a:ext uri="{FF2B5EF4-FFF2-40B4-BE49-F238E27FC236}">
                <a16:creationId xmlns:a16="http://schemas.microsoft.com/office/drawing/2014/main" id="{458DB319-DB58-4A32-A419-8789FF50B0A0}"/>
              </a:ext>
            </a:extLst>
          </p:cNvPr>
          <p:cNvSpPr>
            <a:spLocks noGrp="1"/>
          </p:cNvSpPr>
          <p:nvPr/>
        </p:nvSpPr>
        <p:spPr>
          <a:xfrm>
            <a:off x="4317111" y="3822668"/>
            <a:ext cx="3156109" cy="1586294"/>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r>
              <a:t>Firebase</a:t>
            </a:r>
          </a:p>
          <a:p>
            <a:pPr algn="l">
              <a:defRPr sz="2400">
                <a:solidFill>
                  <a:srgbClr val="000000"/>
                </a:solidFill>
                <a:latin typeface="Helvetica Neue"/>
                <a:ea typeface="Helvetica Neue"/>
                <a:cs typeface="Helvetica Neue"/>
              </a:defRPr>
            </a:pPr>
            <a:r>
              <a:t>Authentication, Firestore / Realtime Database, Storage, notifications, history, and shared state.</a:t>
            </a:r>
          </a:p>
        </p:txBody>
      </p:sp>
      <p:sp>
        <p:nvSpPr>
          <p:cNvPr id="11" name="Text-Placeholder-16-12">
            <a:extLst>
              <a:ext uri="{FF2B5EF4-FFF2-40B4-BE49-F238E27FC236}">
                <a16:creationId xmlns:a16="http://schemas.microsoft.com/office/drawing/2014/main" id="{07FD0938-596D-41D6-95F9-6272BAF6A63B}"/>
              </a:ext>
            </a:extLst>
          </p:cNvPr>
          <p:cNvSpPr>
            <a:spLocks noGrp="1"/>
          </p:cNvSpPr>
          <p:nvPr/>
        </p:nvSpPr>
        <p:spPr>
          <a:xfrm>
            <a:off x="399859" y="3822668"/>
            <a:ext cx="3156109" cy="1586294"/>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r>
              <a:t>Android Native</a:t>
            </a:r>
          </a:p>
          <a:p>
            <a:pPr algn="l">
              <a:defRPr sz="2400">
                <a:solidFill>
                  <a:srgbClr val="000000"/>
                </a:solidFill>
                <a:latin typeface="Helvetica Neue"/>
                <a:ea typeface="Helvetica Neue"/>
                <a:cs typeface="Helvetica Neue"/>
              </a:defRPr>
            </a:pPr>
            <a:r>
              <a:t>Java + XML application on physical device or emulator. Student journey and local UI remain demonstrable.</a:t>
            </a:r>
          </a:p>
        </p:txBody>
      </p:sp>
      <p:sp>
        <p:nvSpPr>
          <p:cNvPr id="12" name="Text-Placeholder-16-13">
            <a:extLst>
              <a:ext uri="{FF2B5EF4-FFF2-40B4-BE49-F238E27FC236}">
                <a16:creationId xmlns:a16="http://schemas.microsoft.com/office/drawing/2014/main" id="{2963A96E-6DE4-4917-B568-A3A6AC09F2B1}"/>
              </a:ext>
            </a:extLst>
          </p:cNvPr>
          <p:cNvSpPr>
            <a:spLocks noGrp="1"/>
          </p:cNvSpPr>
          <p:nvPr/>
        </p:nvSpPr>
        <p:spPr>
          <a:xfrm>
            <a:off x="8177879" y="3822668"/>
            <a:ext cx="3156109" cy="1586294"/>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r>
              <a:t>AI and speech services</a:t>
            </a:r>
          </a:p>
          <a:p>
            <a:pPr algn="l">
              <a:defRPr sz="2400">
                <a:solidFill>
                  <a:srgbClr val="000000"/>
                </a:solidFill>
                <a:latin typeface="Helvetica Neue"/>
                <a:ea typeface="Helvetica Neue"/>
                <a:cs typeface="Helvetica Neue"/>
              </a:defRPr>
            </a:pPr>
            <a:r>
              <a:t>Android SpeechRecognizer plus configured Gemini / OpenAI services for recommendations, evaluation, and guidance.</a:t>
            </a:r>
          </a:p>
        </p:txBody>
      </p:sp>
    </p:spTree>
    <p:extLst>
      <p:ext uri="{BB962C8B-B14F-4D97-AF65-F5344CB8AC3E}">
        <p14:creationId xmlns:p14="http://schemas.microsoft.com/office/powerpoint/2010/main" val="613982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Shape-532-p58-2">
            <a:extLst>
              <a:ext uri="{FF2B5EF4-FFF2-40B4-BE49-F238E27FC236}">
                <a16:creationId xmlns:a16="http://schemas.microsoft.com/office/drawing/2014/main" id="{A5898A5B-87E1-4A6E-8C26-C3D33B2A7442}"/>
              </a:ext>
            </a:extLst>
          </p:cNvPr>
          <p:cNvSpPr>
            <a:spLocks noGrp="1"/>
          </p:cNvSpPr>
          <p:nvPr/>
        </p:nvSpPr>
        <p:spPr>
          <a:xfrm>
            <a:off x="11279315" y="6279261"/>
            <a:ext cx="518922" cy="241268"/>
          </a:xfrm>
          <a:prstGeom prst="rect">
            <a:avLst/>
          </a:prstGeom>
        </p:spPr>
        <p:txBody>
          <a:bodyPr wrap="square" lIns="0" tIns="0" rIns="0" bIns="0" anchor="b">
            <a:noAutofit/>
          </a:bodyPr>
          <a:lstStyle/>
          <a:p>
            <a:pPr algn="r">
              <a:defRPr sz="1000">
                <a:solidFill>
                  <a:srgbClr val="000000"/>
                </a:solidFill>
                <a:latin typeface="Helvetica Neue"/>
                <a:ea typeface="Helvetica Neue"/>
                <a:cs typeface="Helvetica Neue"/>
              </a:defRPr>
            </a:pPr>
            <a:r>
              <a:t>16</a:t>
            </a:r>
          </a:p>
        </p:txBody>
      </p:sp>
      <p:sp>
        <p:nvSpPr>
          <p:cNvPr id="2" name="Google-Shape-533-p58-3">
            <a:extLst>
              <a:ext uri="{FF2B5EF4-FFF2-40B4-BE49-F238E27FC236}">
                <a16:creationId xmlns:a16="http://schemas.microsoft.com/office/drawing/2014/main" id="{74C429EC-9D5E-4F6F-9F9B-D163BD14F8C1}"/>
              </a:ext>
            </a:extLst>
          </p:cNvPr>
          <p:cNvSpPr>
            <a:spLocks noGrp="1"/>
          </p:cNvSpPr>
          <p:nvPr/>
        </p:nvSpPr>
        <p:spPr>
          <a:xfrm>
            <a:off x="393668" y="344043"/>
            <a:ext cx="11404568" cy="1047464"/>
          </a:xfrm>
          <a:prstGeom prst="rect">
            <a:avLst/>
          </a:prstGeom>
        </p:spPr>
        <p:txBody>
          <a:bodyPr wrap="square" lIns="0" tIns="0" rIns="0" bIns="0" anchor="t">
            <a:noAutofit/>
          </a:bodyPr>
          <a:lstStyle/>
          <a:p>
            <a:pPr algn="l">
              <a:defRPr sz="2900">
                <a:solidFill>
                  <a:srgbClr val="000000"/>
                </a:solidFill>
                <a:latin typeface="Helvetica Neue"/>
                <a:ea typeface="Helvetica Neue"/>
                <a:cs typeface="Helvetica Neue"/>
              </a:defRPr>
            </a:pPr>
            <a:r>
              <a:t>Second demo: cloud route and offline contingency</a:t>
            </a:r>
          </a:p>
        </p:txBody>
      </p:sp>
      <p:sp>
        <p:nvSpPr>
          <p:cNvPr id="3" name="Google-Shape-534-p58-4">
            <a:extLst>
              <a:ext uri="{FF2B5EF4-FFF2-40B4-BE49-F238E27FC236}">
                <a16:creationId xmlns:a16="http://schemas.microsoft.com/office/drawing/2014/main" id="{EDD00EE6-BED4-40F3-BE14-200BECB4B695}"/>
              </a:ext>
            </a:extLst>
          </p:cNvPr>
          <p:cNvSpPr>
            <a:spLocks noGrp="1"/>
          </p:cNvSpPr>
          <p:nvPr/>
        </p:nvSpPr>
        <p:spPr>
          <a:xfrm>
            <a:off x="393668" y="2031968"/>
            <a:ext cx="5537168" cy="3534823"/>
          </a:xfrm>
          <a:prstGeom prst="rect">
            <a:avLst/>
          </a:prstGeom>
        </p:spPr>
        <p:txBody>
          <a:bodyPr wrap="square" lIns="0" tIns="0" rIns="0" bIns="0" anchor="t">
            <a:noAutofit/>
          </a:bodyPr>
          <a:lstStyle/>
          <a:p>
            <a:pPr algn="l">
              <a:defRPr sz="2400">
                <a:solidFill>
                  <a:srgbClr val="000000"/>
                </a:solidFill>
                <a:latin typeface="Helvetica Neue"/>
                <a:ea typeface="Helvetica Neue"/>
                <a:cs typeface="Helvetica Neue"/>
              </a:defRPr>
            </a:pPr>
            <a:r>
              <a:t>Primary · cloud-backed demo</a:t>
            </a:r>
          </a:p>
          <a:p>
            <a:pPr algn="l">
              <a:defRPr sz="2400">
                <a:solidFill>
                  <a:srgbClr val="000000"/>
                </a:solidFill>
                <a:latin typeface="Helvetica Neue"/>
                <a:ea typeface="Helvetica Neue"/>
                <a:cs typeface="Helvetica Neue"/>
              </a:defRPr>
            </a:pPr>
            <a:r>
              <a:t>1. Sign in with prepared test account.
2. Complete profile.
3. Open AI eligibility and shortlist.
4. Save a scholarship.
5. Run a visa or test-prep flow.
6. Show persisted progress.</a:t>
            </a:r>
          </a:p>
        </p:txBody>
      </p:sp>
      <p:sp>
        <p:nvSpPr>
          <p:cNvPr id="4" name="Content-Placeholder-3-5">
            <a:extLst>
              <a:ext uri="{FF2B5EF4-FFF2-40B4-BE49-F238E27FC236}">
                <a16:creationId xmlns:a16="http://schemas.microsoft.com/office/drawing/2014/main" id="{73259330-29C7-423B-90D6-301572A1D115}"/>
              </a:ext>
            </a:extLst>
          </p:cNvPr>
          <p:cNvSpPr>
            <a:spLocks noGrp="1"/>
          </p:cNvSpPr>
          <p:nvPr/>
        </p:nvSpPr>
        <p:spPr>
          <a:xfrm>
            <a:off x="6256592" y="2031968"/>
            <a:ext cx="5537168" cy="3534823"/>
          </a:xfrm>
          <a:prstGeom prst="rect">
            <a:avLst/>
          </a:prstGeom>
        </p:spPr>
        <p:txBody>
          <a:bodyPr lIns="0" tIns="0" rIns="0" bIns="0">
            <a:normAutofit/>
          </a:bodyPr>
          <a:lstStyle/>
          <a:p>
            <a:pPr algn="l">
              <a:defRPr sz="2400">
                <a:solidFill>
                  <a:srgbClr val="000000"/>
                </a:solidFill>
                <a:latin typeface="Helvetica Neue"/>
                <a:ea typeface="Helvetica Neue"/>
                <a:cs typeface="Helvetica Neue"/>
              </a:defRPr>
            </a:pPr>
            <a:r>
              <a:t>Fallback · local execution</a:t>
            </a:r>
          </a:p>
          <a:p>
            <a:pPr algn="l">
              <a:defRPr sz="2400">
                <a:solidFill>
                  <a:srgbClr val="000000"/>
                </a:solidFill>
                <a:latin typeface="Helvetica Neue"/>
                <a:ea typeface="Helvetica Neue"/>
                <a:cs typeface="Helvetica Neue"/>
              </a:defRPr>
            </a:pPr>
            <a:r>
              <a:t>Keep a tested debug/signed APK, Android Studio project, emulator, and physical device ready.
Cache or bundle demo-safe sample data for screens that otherwise depend on the internet.</a:t>
            </a:r>
          </a:p>
        </p:txBody>
      </p:sp>
    </p:spTree>
    <p:extLst>
      <p:ext uri="{BB962C8B-B14F-4D97-AF65-F5344CB8AC3E}">
        <p14:creationId xmlns:p14="http://schemas.microsoft.com/office/powerpoint/2010/main" val="1501326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3-1">
            <a:extLst>
              <a:ext uri="{FF2B5EF4-FFF2-40B4-BE49-F238E27FC236}">
                <a16:creationId xmlns:a16="http://schemas.microsoft.com/office/drawing/2014/main" id="{FE6939C7-5DF8-4ED6-9200-0B436C366714}"/>
              </a:ext>
            </a:extLst>
          </p:cNvPr>
          <p:cNvSpPr>
            <a:spLocks noGrp="1"/>
          </p:cNvSpPr>
          <p:nvPr/>
        </p:nvSpPr>
        <p:spPr>
          <a:xfrm>
            <a:off x="393668" y="1738789"/>
            <a:ext cx="9448800" cy="2491454"/>
          </a:xfrm>
          <a:prstGeom prst="rect">
            <a:avLst/>
          </a:prstGeom>
        </p:spPr>
        <p:txBody>
          <a:bodyPr lIns="0" tIns="0" rIns="0" bIns="0" anchor="b">
            <a:noAutofit/>
          </a:bodyPr>
          <a:lstStyle/>
          <a:p>
            <a:pPr algn="l">
              <a:defRPr sz="6000">
                <a:solidFill>
                  <a:srgbClr val="000000"/>
                </a:solidFill>
                <a:latin typeface="Helvetica Neue"/>
                <a:ea typeface="Helvetica Neue"/>
                <a:cs typeface="Helvetica Neue"/>
              </a:defRPr>
            </a:pPr>
            <a:r>
              <a:t>One journey.
Evidence at every step.</a:t>
            </a:r>
          </a:p>
        </p:txBody>
      </p:sp>
      <p:sp>
        <p:nvSpPr>
          <p:cNvPr id="2" name="Subtitle-4-2">
            <a:extLst>
              <a:ext uri="{FF2B5EF4-FFF2-40B4-BE49-F238E27FC236}">
                <a16:creationId xmlns:a16="http://schemas.microsoft.com/office/drawing/2014/main" id="{A55A5083-8B4F-491E-AE81-8BA17751CC3A}"/>
              </a:ext>
            </a:extLst>
          </p:cNvPr>
          <p:cNvSpPr>
            <a:spLocks noGrp="1"/>
          </p:cNvSpPr>
          <p:nvPr/>
        </p:nvSpPr>
        <p:spPr>
          <a:xfrm>
            <a:off x="393668" y="4973288"/>
            <a:ext cx="3568732" cy="1080230"/>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r>
              <a:t>Jira · real ownership</a:t>
            </a:r>
          </a:p>
          <a:p>
            <a:pPr algn="l">
              <a:defRPr sz="2400">
                <a:solidFill>
                  <a:srgbClr val="000000"/>
                </a:solidFill>
                <a:latin typeface="Helvetica Neue"/>
                <a:ea typeface="Helvetica Neue"/>
                <a:cs typeface="Helvetica Neue"/>
              </a:defRPr>
            </a:pPr>
            <a:r>
              <a:t>GitHub · every member commits</a:t>
            </a:r>
          </a:p>
          <a:p>
            <a:pPr algn="l">
              <a:defRPr sz="2400">
                <a:solidFill>
                  <a:srgbClr val="000000"/>
                </a:solidFill>
                <a:latin typeface="Helvetica Neue"/>
                <a:ea typeface="Helvetica Neue"/>
                <a:cs typeface="Helvetica Neue"/>
              </a:defRPr>
            </a:pPr>
            <a:r>
              <a:t>Product · cloud + local fallback</a:t>
            </a:r>
          </a:p>
        </p:txBody>
      </p:sp>
      <p:sp>
        <p:nvSpPr>
          <p:cNvPr id="3" name="Subtitle-4-3">
            <a:extLst>
              <a:ext uri="{FF2B5EF4-FFF2-40B4-BE49-F238E27FC236}">
                <a16:creationId xmlns:a16="http://schemas.microsoft.com/office/drawing/2014/main" id="{D4268835-7B0B-47EF-A217-A0F1626BD7E0}"/>
              </a:ext>
            </a:extLst>
          </p:cNvPr>
          <p:cNvSpPr>
            <a:spLocks noGrp="1"/>
          </p:cNvSpPr>
          <p:nvPr/>
        </p:nvSpPr>
        <p:spPr>
          <a:xfrm>
            <a:off x="393668" y="392240"/>
            <a:ext cx="1612868" cy="649129"/>
          </a:xfrm>
          <a:prstGeom prst="rect">
            <a:avLst/>
          </a:prstGeom>
        </p:spPr>
        <p:txBody>
          <a:bodyPr lIns="0" tIns="0" rIns="0" bIns="0">
            <a:noAutofit/>
          </a:bodyPr>
          <a:lstStyle/>
          <a:p>
            <a:pPr algn="l">
              <a:defRPr sz="2400">
                <a:solidFill>
                  <a:srgbClr val="000000"/>
                </a:solidFill>
                <a:latin typeface="Helvetica Neue"/>
                <a:ea typeface="Helvetica Neue"/>
                <a:cs typeface="Helvetica Neue"/>
              </a:defRPr>
            </a:pPr>
            <a:r>
              <a:t>ABROADIQ · READY</a:t>
            </a:r>
          </a:p>
        </p:txBody>
      </p:sp>
    </p:spTree>
    <p:extLst>
      <p:ext uri="{BB962C8B-B14F-4D97-AF65-F5344CB8AC3E}">
        <p14:creationId xmlns:p14="http://schemas.microsoft.com/office/powerpoint/2010/main" val="115203362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2377</Words>
  <Application>Microsoft Office PowerPoint</Application>
  <DocSecurity>0</DocSecurity>
  <PresentationFormat>Widescreen</PresentationFormat>
  <Paragraphs>260</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muhammad zohaib F2022065070</cp:lastModifiedBy>
  <cp:revision>1</cp:revision>
  <dcterms:created xsi:type="dcterms:W3CDTF">2026-07-28T18:18:33Z</dcterms:created>
  <dcterms:modified xsi:type="dcterms:W3CDTF">2026-07-28T18:22:55Z</dcterms:modified>
</cp:coreProperties>
</file>